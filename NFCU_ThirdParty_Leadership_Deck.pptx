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context: this briefing covers the current state of how NFCU manages third-party software dependencies — the open-source libraries, vendor packages, and other external code that flows into our systems every day. We identified 10 gaps and have a concrete roadmap to address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third-party code is everywhere and it's the #1 attack vector in modern software supply chain attacks. SolarWinds, Log4Shell, XZ Utils — all exploited dependencies that organizations trusted implicitly. NFCU is no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 phases. The green column (Intake &amp; Trust) is our strongest. Things degrade as we move right — Security &amp; Enforcement has the most concentrated gaps, and Monitoring &amp; Response is almost entirely manual. The good news: the infrastructure is there, it's mostly a matter of config, policy, and filling specific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10 identified gaps. Frame them in business terms: #1 means we have blind spots where code enters with zero vetting. #3 means if Log4Shell happens tomorrow, our response time is limited by how fast a human can act. #4 means we cannot answer 'what applications are affected?' after a block — that's a compliance and crisis response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SLSA is the benchmark. L1 is the baseline every serious organization should be at. L2 is where financial services peers are targeting. L3 is the hardened enterprise posture. We're at L0 — touching L1 but not fully there. This gives us a concrete ladder to climb.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for leadership: the quick wins in the left column cost almost nothing and can be done in weeks — they just require a decision to prioritize and assign ownership. The right column is investment in net-new capability. The recommendation is to start left, then fund the right. Starting left de-risks immediately while planning the bigger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Leadership needs to approve two things: (1) direction to the CICD/Platform team to implement Phase 1 config changes immediately, and (2) budget/resource planning for Phases 2 and 3. Emphasize Phase 1 is essentially free — it's existing tools, just properly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we know exactly where we are, we know what's broken, and we have a concrete plan. This isn't a surprise audit finding — it's a proactive assessment. We're asking for leadership support to move from knowing to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E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0000"/>
          </a:blip>
          <a:stretch>
            <a:fillRect/>
          </a:stretch>
        </p:blipFill>
        <p:spPr>
          <a:xfrm>
            <a:off x="6217920" y="274320"/>
            <a:ext cx="2743200" cy="2743200"/>
          </a:xfrm>
          <a:prstGeom prst="rect">
            <a:avLst/>
          </a:prstGeom>
        </p:spPr>
      </p:pic>
      <p:sp>
        <p:nvSpPr>
          <p:cNvPr id="3" name="Text 0"/>
          <p:cNvSpPr/>
          <p:nvPr/>
        </p:nvSpPr>
        <p:spPr>
          <a:xfrm>
            <a:off x="548640" y="1005840"/>
            <a:ext cx="7772400" cy="274320"/>
          </a:xfrm>
          <a:prstGeom prst="rect">
            <a:avLst/>
          </a:prstGeom>
          <a:noFill/>
          <a:ln/>
        </p:spPr>
        <p:txBody>
          <a:bodyPr wrap="square" lIns="0" tIns="0" rIns="0" bIns="0" rtlCol="0" anchor="ctr"/>
          <a:lstStyle/>
          <a:p>
            <a:pPr indent="0" marL="0">
              <a:buNone/>
            </a:pPr>
            <a:r>
              <a:rPr lang="en-US" sz="900" spc="200" kern="0" dirty="0">
                <a:solidFill>
                  <a:srgbClr val="8AAAC0"/>
                </a:solidFill>
                <a:latin typeface="Calibri" pitchFamily="34" charset="0"/>
                <a:ea typeface="Calibri" pitchFamily="34" charset="-122"/>
                <a:cs typeface="Calibri" pitchFamily="34" charset="-120"/>
              </a:rPr>
              <a:t>NAVY FEDERAL CREDIT UNION  ·  PRODUCT INTEGRITY &amp; TESTING (PIT)</a:t>
            </a:r>
            <a:endParaRPr lang="en-US" sz="900" dirty="0"/>
          </a:p>
        </p:txBody>
      </p:sp>
      <p:sp>
        <p:nvSpPr>
          <p:cNvPr id="4" name="Text 1"/>
          <p:cNvSpPr/>
          <p:nvPr/>
        </p:nvSpPr>
        <p:spPr>
          <a:xfrm>
            <a:off x="548640" y="1371600"/>
            <a:ext cx="685800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Third-Party Dependency Security</a:t>
            </a:r>
            <a:endParaRPr lang="en-US" sz="3800" dirty="0"/>
          </a:p>
        </p:txBody>
      </p:sp>
      <p:sp>
        <p:nvSpPr>
          <p:cNvPr id="5" name="Text 2"/>
          <p:cNvSpPr/>
          <p:nvPr/>
        </p:nvSpPr>
        <p:spPr>
          <a:xfrm>
            <a:off x="548640" y="2194560"/>
            <a:ext cx="685800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Current State, Gaps &amp; Hardening Roadmap</a:t>
            </a:r>
            <a:endParaRPr lang="en-US" sz="2200" dirty="0"/>
          </a:p>
        </p:txBody>
      </p:sp>
      <p:sp>
        <p:nvSpPr>
          <p:cNvPr id="6" name="Shape 3"/>
          <p:cNvSpPr/>
          <p:nvPr/>
        </p:nvSpPr>
        <p:spPr>
          <a:xfrm>
            <a:off x="548640" y="2880360"/>
            <a:ext cx="4114800" cy="36576"/>
          </a:xfrm>
          <a:prstGeom prst="rect">
            <a:avLst/>
          </a:prstGeom>
          <a:solidFill>
            <a:srgbClr val="1C3A62"/>
          </a:solidFill>
          <a:ln w="12700">
            <a:solidFill>
              <a:srgbClr val="1C3A62"/>
            </a:solidFill>
            <a:prstDash val="solid"/>
          </a:ln>
        </p:spPr>
      </p:sp>
      <p:sp>
        <p:nvSpPr>
          <p:cNvPr id="7" name="Text 4"/>
          <p:cNvSpPr/>
          <p:nvPr/>
        </p:nvSpPr>
        <p:spPr>
          <a:xfrm>
            <a:off x="548640" y="3017520"/>
            <a:ext cx="6400800" cy="274320"/>
          </a:xfrm>
          <a:prstGeom prst="rect">
            <a:avLst/>
          </a:prstGeom>
          <a:noFill/>
          <a:ln/>
        </p:spPr>
        <p:txBody>
          <a:bodyPr wrap="square" lIns="0" tIns="0" rIns="0" bIns="0" rtlCol="0" anchor="ctr"/>
          <a:lstStyle/>
          <a:p>
            <a:pPr indent="0" marL="0">
              <a:buNone/>
            </a:pPr>
            <a:r>
              <a:rPr lang="en-US" sz="1200" dirty="0">
                <a:solidFill>
                  <a:srgbClr val="8AAAC0"/>
                </a:solidFill>
                <a:latin typeface="Calibri" pitchFamily="34" charset="0"/>
                <a:ea typeface="Calibri" pitchFamily="34" charset="-122"/>
                <a:cs typeface="Calibri" pitchFamily="34" charset="-120"/>
              </a:rPr>
              <a:t>JFrog Artifactory  ·  Supply Chain Hardening  ·  SLSA Framework</a:t>
            </a:r>
            <a:endParaRPr lang="en-US" sz="1200" dirty="0"/>
          </a:p>
        </p:txBody>
      </p:sp>
      <p:sp>
        <p:nvSpPr>
          <p:cNvPr id="8" name="Shape 5"/>
          <p:cNvSpPr/>
          <p:nvPr/>
        </p:nvSpPr>
        <p:spPr>
          <a:xfrm>
            <a:off x="548640" y="4297680"/>
            <a:ext cx="1783080" cy="411480"/>
          </a:xfrm>
          <a:prstGeom prst="roundRect">
            <a:avLst>
              <a:gd name="adj" fmla="val 13333"/>
            </a:avLst>
          </a:prstGeom>
          <a:solidFill>
            <a:srgbClr val="1C3A62"/>
          </a:solidFill>
          <a:ln w="12700">
            <a:solidFill>
              <a:srgbClr val="2C4A72"/>
            </a:solidFill>
            <a:prstDash val="solid"/>
          </a:ln>
        </p:spPr>
      </p:sp>
      <p:sp>
        <p:nvSpPr>
          <p:cNvPr id="9" name="Text 6"/>
          <p:cNvSpPr/>
          <p:nvPr/>
        </p:nvSpPr>
        <p:spPr>
          <a:xfrm>
            <a:off x="548640" y="4297680"/>
            <a:ext cx="1783080" cy="411480"/>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19 Lifecycle Steps</a:t>
            </a:r>
            <a:endParaRPr lang="en-US" sz="1000" dirty="0"/>
          </a:p>
        </p:txBody>
      </p:sp>
      <p:sp>
        <p:nvSpPr>
          <p:cNvPr id="10" name="Shape 7"/>
          <p:cNvSpPr/>
          <p:nvPr/>
        </p:nvSpPr>
        <p:spPr>
          <a:xfrm>
            <a:off x="2468880" y="4297680"/>
            <a:ext cx="1783080" cy="411480"/>
          </a:xfrm>
          <a:prstGeom prst="roundRect">
            <a:avLst>
              <a:gd name="adj" fmla="val 13333"/>
            </a:avLst>
          </a:prstGeom>
          <a:solidFill>
            <a:srgbClr val="1C3A62"/>
          </a:solidFill>
          <a:ln w="12700">
            <a:solidFill>
              <a:srgbClr val="2C4A72"/>
            </a:solidFill>
            <a:prstDash val="solid"/>
          </a:ln>
        </p:spPr>
      </p:sp>
      <p:sp>
        <p:nvSpPr>
          <p:cNvPr id="11" name="Text 8"/>
          <p:cNvSpPr/>
          <p:nvPr/>
        </p:nvSpPr>
        <p:spPr>
          <a:xfrm>
            <a:off x="2468880" y="4297680"/>
            <a:ext cx="1783080" cy="411480"/>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10 Identified Gaps</a:t>
            </a:r>
            <a:endParaRPr lang="en-US" sz="1000" dirty="0"/>
          </a:p>
        </p:txBody>
      </p:sp>
      <p:sp>
        <p:nvSpPr>
          <p:cNvPr id="12" name="Shape 9"/>
          <p:cNvSpPr/>
          <p:nvPr/>
        </p:nvSpPr>
        <p:spPr>
          <a:xfrm>
            <a:off x="4389120" y="4297680"/>
            <a:ext cx="1783080" cy="411480"/>
          </a:xfrm>
          <a:prstGeom prst="roundRect">
            <a:avLst>
              <a:gd name="adj" fmla="val 13333"/>
            </a:avLst>
          </a:prstGeom>
          <a:solidFill>
            <a:srgbClr val="1C3A62"/>
          </a:solidFill>
          <a:ln w="12700">
            <a:solidFill>
              <a:srgbClr val="2C4A72"/>
            </a:solidFill>
            <a:prstDash val="solid"/>
          </a:ln>
        </p:spPr>
      </p:sp>
      <p:sp>
        <p:nvSpPr>
          <p:cNvPr id="13" name="Text 10"/>
          <p:cNvSpPr/>
          <p:nvPr/>
        </p:nvSpPr>
        <p:spPr>
          <a:xfrm>
            <a:off x="4389120" y="4297680"/>
            <a:ext cx="1783080" cy="411480"/>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SLSA L1 → L3 Roadmap</a:t>
            </a:r>
            <a:endParaRPr lang="en-US" sz="1000" dirty="0"/>
          </a:p>
        </p:txBody>
      </p:sp>
      <p:sp>
        <p:nvSpPr>
          <p:cNvPr id="14" name="Text 11"/>
          <p:cNvSpPr/>
          <p:nvPr/>
        </p:nvSpPr>
        <p:spPr>
          <a:xfrm>
            <a:off x="548640" y="4800600"/>
            <a:ext cx="7315200" cy="228600"/>
          </a:xfrm>
          <a:prstGeom prst="rect">
            <a:avLst/>
          </a:prstGeom>
          <a:noFill/>
          <a:ln/>
        </p:spPr>
        <p:txBody>
          <a:bodyPr wrap="square" lIns="0" tIns="0" rIns="0" bIns="0" rtlCol="0" anchor="ctr"/>
          <a:lstStyle/>
          <a:p>
            <a:pPr indent="0" marL="0">
              <a:buNone/>
            </a:pPr>
            <a:r>
              <a:rPr lang="en-US" sz="800" spc="150" kern="0" dirty="0">
                <a:solidFill>
                  <a:srgbClr val="2C4A72"/>
                </a:solidFill>
                <a:latin typeface="Calibri" pitchFamily="34" charset="0"/>
                <a:ea typeface="Calibri" pitchFamily="34" charset="-122"/>
                <a:cs typeface="Calibri" pitchFamily="34" charset="-120"/>
              </a:rPr>
              <a:t>CONFIDENTIAL  ·  FOR INTERNAL USE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E3A"/>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8AAAC0"/>
                </a:solidFill>
                <a:latin typeface="Calibri" pitchFamily="34" charset="0"/>
                <a:ea typeface="Calibri" pitchFamily="34" charset="-122"/>
                <a:cs typeface="Calibri" pitchFamily="34" charset="-120"/>
              </a:rPr>
              <a:t>01  /  THE PROBLEM</a:t>
            </a:r>
            <a:endParaRPr lang="en-US" sz="900" dirty="0"/>
          </a:p>
        </p:txBody>
      </p:sp>
      <p:sp>
        <p:nvSpPr>
          <p:cNvPr id="3" name="Text 1"/>
          <p:cNvSpPr/>
          <p:nvPr/>
        </p:nvSpPr>
        <p:spPr>
          <a:xfrm>
            <a:off x="548640" y="457200"/>
            <a:ext cx="8229600" cy="10058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Third-Party Dependencies</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Are a Critical Risk</a:t>
            </a:r>
            <a:endParaRPr lang="en-US" sz="3000" dirty="0"/>
          </a:p>
        </p:txBody>
      </p:sp>
      <p:sp>
        <p:nvSpPr>
          <p:cNvPr id="4" name="Shape 2"/>
          <p:cNvSpPr/>
          <p:nvPr/>
        </p:nvSpPr>
        <p:spPr>
          <a:xfrm>
            <a:off x="457200" y="1600200"/>
            <a:ext cx="2560320" cy="2560320"/>
          </a:xfrm>
          <a:prstGeom prst="roundRect">
            <a:avLst>
              <a:gd name="adj" fmla="val 3571"/>
            </a:avLst>
          </a:prstGeom>
          <a:solidFill>
            <a:srgbClr val="142847"/>
          </a:solidFill>
          <a:ln w="12700">
            <a:solidFill>
              <a:srgbClr val="2C4A72"/>
            </a:solidFill>
            <a:prstDash val="solid"/>
          </a:ln>
          <a:effectLst>
            <a:outerShdw sx="100000" sy="100000" kx="0" ky="0" algn="bl" rotWithShape="0" blurRad="76200" dist="254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1463040" y="1737360"/>
            <a:ext cx="502920" cy="502920"/>
          </a:xfrm>
          <a:prstGeom prst="rect">
            <a:avLst/>
          </a:prstGeom>
        </p:spPr>
      </p:pic>
      <p:sp>
        <p:nvSpPr>
          <p:cNvPr id="6" name="Text 3"/>
          <p:cNvSpPr/>
          <p:nvPr/>
        </p:nvSpPr>
        <p:spPr>
          <a:xfrm>
            <a:off x="457200" y="2286000"/>
            <a:ext cx="2560320" cy="685800"/>
          </a:xfrm>
          <a:prstGeom prst="rect">
            <a:avLst/>
          </a:prstGeom>
          <a:noFill/>
          <a:ln/>
        </p:spPr>
        <p:txBody>
          <a:bodyPr wrap="square" lIns="0" tIns="0" rIns="0" bIns="0" rtlCol="0" anchor="ctr"/>
          <a:lstStyle/>
          <a:p>
            <a:pPr algn="ctr" indent="0" marL="0">
              <a:buNone/>
            </a:pPr>
            <a:r>
              <a:rPr lang="en-US" sz="3400" b="1" dirty="0">
                <a:solidFill>
                  <a:srgbClr val="CADCFC"/>
                </a:solidFill>
                <a:latin typeface="Calibri" pitchFamily="34" charset="0"/>
                <a:ea typeface="Calibri" pitchFamily="34" charset="-122"/>
                <a:cs typeface="Calibri" pitchFamily="34" charset="-120"/>
              </a:rPr>
              <a:t>30%</a:t>
            </a:r>
            <a:endParaRPr lang="en-US" sz="3400" dirty="0"/>
          </a:p>
        </p:txBody>
      </p:sp>
      <p:sp>
        <p:nvSpPr>
          <p:cNvPr id="7" name="Text 4"/>
          <p:cNvSpPr/>
          <p:nvPr/>
        </p:nvSpPr>
        <p:spPr>
          <a:xfrm>
            <a:off x="457200" y="2971800"/>
            <a:ext cx="2560320" cy="640080"/>
          </a:xfrm>
          <a:prstGeom prst="rect">
            <a:avLst/>
          </a:prstGeom>
          <a:noFill/>
          <a:ln/>
        </p:spPr>
        <p:txBody>
          <a:bodyPr wrap="square" lIns="0" tIns="0" rIns="0" bIns="0" rtlCol="0" anchor="ctr"/>
          <a:lstStyle/>
          <a:p>
            <a:pPr algn="ctr" indent="0" marL="0">
              <a:buNone/>
            </a:pPr>
            <a:r>
              <a:rPr lang="en-US" sz="1100" dirty="0">
                <a:solidFill>
                  <a:srgbClr val="8AAAC0"/>
                </a:solidFill>
                <a:latin typeface="Calibri" pitchFamily="34" charset="0"/>
                <a:ea typeface="Calibri" pitchFamily="34" charset="-122"/>
                <a:cs typeface="Calibri" pitchFamily="34" charset="-120"/>
              </a:rPr>
              <a:t>of all breaches involve a</a:t>
            </a:r>
            <a:endParaRPr lang="en-US" sz="1100" dirty="0"/>
          </a:p>
          <a:p>
            <a:pPr algn="ctr" indent="0" marL="0">
              <a:buNone/>
            </a:pPr>
            <a:r>
              <a:rPr lang="en-US" sz="1100" dirty="0">
                <a:solidFill>
                  <a:srgbClr val="8AAAC0"/>
                </a:solidFill>
                <a:latin typeface="Calibri" pitchFamily="34" charset="0"/>
                <a:ea typeface="Calibri" pitchFamily="34" charset="-122"/>
                <a:cs typeface="Calibri" pitchFamily="34" charset="-120"/>
              </a:rPr>
              <a:t>third party — doubled in one year</a:t>
            </a:r>
            <a:endParaRPr lang="en-US" sz="1100" dirty="0"/>
          </a:p>
        </p:txBody>
      </p:sp>
      <p:sp>
        <p:nvSpPr>
          <p:cNvPr id="8" name="Shape 5"/>
          <p:cNvSpPr/>
          <p:nvPr/>
        </p:nvSpPr>
        <p:spPr>
          <a:xfrm>
            <a:off x="3291840" y="1600200"/>
            <a:ext cx="2560320" cy="2560320"/>
          </a:xfrm>
          <a:prstGeom prst="roundRect">
            <a:avLst>
              <a:gd name="adj" fmla="val 3571"/>
            </a:avLst>
          </a:prstGeom>
          <a:solidFill>
            <a:srgbClr val="142847"/>
          </a:solidFill>
          <a:ln w="12700">
            <a:solidFill>
              <a:srgbClr val="2C4A72"/>
            </a:solidFill>
            <a:prstDash val="solid"/>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4297680" y="1737360"/>
            <a:ext cx="502920" cy="502920"/>
          </a:xfrm>
          <a:prstGeom prst="rect">
            <a:avLst/>
          </a:prstGeom>
        </p:spPr>
      </p:pic>
      <p:sp>
        <p:nvSpPr>
          <p:cNvPr id="10" name="Text 6"/>
          <p:cNvSpPr/>
          <p:nvPr/>
        </p:nvSpPr>
        <p:spPr>
          <a:xfrm>
            <a:off x="3291840" y="2286000"/>
            <a:ext cx="2560320" cy="685800"/>
          </a:xfrm>
          <a:prstGeom prst="rect">
            <a:avLst/>
          </a:prstGeom>
          <a:noFill/>
          <a:ln/>
        </p:spPr>
        <p:txBody>
          <a:bodyPr wrap="square" lIns="0" tIns="0" rIns="0" bIns="0" rtlCol="0" anchor="ctr"/>
          <a:lstStyle/>
          <a:p>
            <a:pPr algn="ctr" indent="0" marL="0">
              <a:buNone/>
            </a:pPr>
            <a:r>
              <a:rPr lang="en-US" sz="3400" b="1" dirty="0">
                <a:solidFill>
                  <a:srgbClr val="CADCFC"/>
                </a:solidFill>
                <a:latin typeface="Calibri" pitchFamily="34" charset="0"/>
                <a:ea typeface="Calibri" pitchFamily="34" charset="-122"/>
                <a:cs typeface="Calibri" pitchFamily="34" charset="-120"/>
              </a:rPr>
              <a:t>454K+</a:t>
            </a:r>
            <a:endParaRPr lang="en-US" sz="3400" dirty="0"/>
          </a:p>
        </p:txBody>
      </p:sp>
      <p:sp>
        <p:nvSpPr>
          <p:cNvPr id="11" name="Text 7"/>
          <p:cNvSpPr/>
          <p:nvPr/>
        </p:nvSpPr>
        <p:spPr>
          <a:xfrm>
            <a:off x="3291840" y="2971800"/>
            <a:ext cx="2560320" cy="640080"/>
          </a:xfrm>
          <a:prstGeom prst="rect">
            <a:avLst/>
          </a:prstGeom>
          <a:noFill/>
          <a:ln/>
        </p:spPr>
        <p:txBody>
          <a:bodyPr wrap="square" lIns="0" tIns="0" rIns="0" bIns="0" rtlCol="0" anchor="ctr"/>
          <a:lstStyle/>
          <a:p>
            <a:pPr algn="ctr" indent="0" marL="0">
              <a:buNone/>
            </a:pPr>
            <a:r>
              <a:rPr lang="en-US" sz="1100" dirty="0">
                <a:solidFill>
                  <a:srgbClr val="8AAAC0"/>
                </a:solidFill>
                <a:latin typeface="Calibri" pitchFamily="34" charset="0"/>
                <a:ea typeface="Calibri" pitchFamily="34" charset="-122"/>
                <a:cs typeface="Calibri" pitchFamily="34" charset="-120"/>
              </a:rPr>
              <a:t>new malicious open-source</a:t>
            </a:r>
            <a:endParaRPr lang="en-US" sz="1100" dirty="0"/>
          </a:p>
          <a:p>
            <a:pPr algn="ctr" indent="0" marL="0">
              <a:buNone/>
            </a:pPr>
            <a:r>
              <a:rPr lang="en-US" sz="1100" dirty="0">
                <a:solidFill>
                  <a:srgbClr val="8AAAC0"/>
                </a:solidFill>
                <a:latin typeface="Calibri" pitchFamily="34" charset="0"/>
                <a:ea typeface="Calibri" pitchFamily="34" charset="-122"/>
                <a:cs typeface="Calibri" pitchFamily="34" charset="-120"/>
              </a:rPr>
              <a:t>packages found in 2025, +75% YoY</a:t>
            </a:r>
            <a:endParaRPr lang="en-US" sz="1100" dirty="0"/>
          </a:p>
        </p:txBody>
      </p:sp>
      <p:sp>
        <p:nvSpPr>
          <p:cNvPr id="12" name="Shape 8"/>
          <p:cNvSpPr/>
          <p:nvPr/>
        </p:nvSpPr>
        <p:spPr>
          <a:xfrm>
            <a:off x="6126480" y="1600200"/>
            <a:ext cx="2560320" cy="2560320"/>
          </a:xfrm>
          <a:prstGeom prst="roundRect">
            <a:avLst>
              <a:gd name="adj" fmla="val 3571"/>
            </a:avLst>
          </a:prstGeom>
          <a:solidFill>
            <a:srgbClr val="142847"/>
          </a:solidFill>
          <a:ln w="12700">
            <a:solidFill>
              <a:srgbClr val="2C4A72"/>
            </a:solidFill>
            <a:prstDash val="solid"/>
          </a:ln>
          <a:effectLst>
            <a:outerShdw sx="100000" sy="100000" kx="0" ky="0" algn="bl" rotWithShape="0" blurRad="76200" dist="254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7132320" y="1737360"/>
            <a:ext cx="502920" cy="502920"/>
          </a:xfrm>
          <a:prstGeom prst="rect">
            <a:avLst/>
          </a:prstGeom>
        </p:spPr>
      </p:pic>
      <p:sp>
        <p:nvSpPr>
          <p:cNvPr id="14" name="Text 9"/>
          <p:cNvSpPr/>
          <p:nvPr/>
        </p:nvSpPr>
        <p:spPr>
          <a:xfrm>
            <a:off x="6126480" y="2286000"/>
            <a:ext cx="2560320" cy="685800"/>
          </a:xfrm>
          <a:prstGeom prst="rect">
            <a:avLst/>
          </a:prstGeom>
          <a:noFill/>
          <a:ln/>
        </p:spPr>
        <p:txBody>
          <a:bodyPr wrap="square" lIns="0" tIns="0" rIns="0" bIns="0" rtlCol="0" anchor="ctr"/>
          <a:lstStyle/>
          <a:p>
            <a:pPr algn="ctr" indent="0" marL="0">
              <a:buNone/>
            </a:pPr>
            <a:r>
              <a:rPr lang="en-US" sz="3400" b="1" dirty="0">
                <a:solidFill>
                  <a:srgbClr val="CADCFC"/>
                </a:solidFill>
                <a:latin typeface="Calibri" pitchFamily="34" charset="0"/>
                <a:ea typeface="Calibri" pitchFamily="34" charset="-122"/>
                <a:cs typeface="Calibri" pitchFamily="34" charset="-120"/>
              </a:rPr>
              <a:t>$4.91M</a:t>
            </a:r>
            <a:endParaRPr lang="en-US" sz="3400" dirty="0"/>
          </a:p>
        </p:txBody>
      </p:sp>
      <p:sp>
        <p:nvSpPr>
          <p:cNvPr id="15" name="Text 10"/>
          <p:cNvSpPr/>
          <p:nvPr/>
        </p:nvSpPr>
        <p:spPr>
          <a:xfrm>
            <a:off x="6126480" y="2971800"/>
            <a:ext cx="2560320" cy="640080"/>
          </a:xfrm>
          <a:prstGeom prst="rect">
            <a:avLst/>
          </a:prstGeom>
          <a:noFill/>
          <a:ln/>
        </p:spPr>
        <p:txBody>
          <a:bodyPr wrap="square" lIns="0" tIns="0" rIns="0" bIns="0" rtlCol="0" anchor="ctr"/>
          <a:lstStyle/>
          <a:p>
            <a:pPr algn="ctr" indent="0" marL="0">
              <a:buNone/>
            </a:pPr>
            <a:r>
              <a:rPr lang="en-US" sz="1100" dirty="0">
                <a:solidFill>
                  <a:srgbClr val="8AAAC0"/>
                </a:solidFill>
                <a:latin typeface="Calibri" pitchFamily="34" charset="0"/>
                <a:ea typeface="Calibri" pitchFamily="34" charset="-122"/>
                <a:cs typeface="Calibri" pitchFamily="34" charset="-120"/>
              </a:rPr>
              <a:t>avg cost of a supply chain</a:t>
            </a:r>
            <a:endParaRPr lang="en-US" sz="1100" dirty="0"/>
          </a:p>
          <a:p>
            <a:pPr algn="ctr" indent="0" marL="0">
              <a:buNone/>
            </a:pPr>
            <a:r>
              <a:rPr lang="en-US" sz="1100" dirty="0">
                <a:solidFill>
                  <a:srgbClr val="8AAAC0"/>
                </a:solidFill>
                <a:latin typeface="Calibri" pitchFamily="34" charset="0"/>
                <a:ea typeface="Calibri" pitchFamily="34" charset="-122"/>
                <a:cs typeface="Calibri" pitchFamily="34" charset="-120"/>
              </a:rPr>
              <a:t>breach — 267 days to contain</a:t>
            </a:r>
            <a:endParaRPr lang="en-US" sz="1100" dirty="0"/>
          </a:p>
        </p:txBody>
      </p:sp>
      <p:sp>
        <p:nvSpPr>
          <p:cNvPr id="16" name="Shape 11"/>
          <p:cNvSpPr/>
          <p:nvPr/>
        </p:nvSpPr>
        <p:spPr>
          <a:xfrm>
            <a:off x="457200" y="4297680"/>
            <a:ext cx="8229600" cy="594360"/>
          </a:xfrm>
          <a:prstGeom prst="roundRect">
            <a:avLst>
              <a:gd name="adj" fmla="val 12308"/>
            </a:avLst>
          </a:prstGeom>
          <a:solidFill>
            <a:srgbClr val="1A0A0A"/>
          </a:solidFill>
          <a:ln w="12700">
            <a:solidFill>
              <a:srgbClr val="A31515"/>
            </a:solidFill>
            <a:prstDash val="solid"/>
          </a:ln>
        </p:spPr>
      </p:sp>
      <p:sp>
        <p:nvSpPr>
          <p:cNvPr id="17" name="Text 12"/>
          <p:cNvSpPr/>
          <p:nvPr/>
        </p:nvSpPr>
        <p:spPr>
          <a:xfrm>
            <a:off x="548640" y="4315968"/>
            <a:ext cx="8046720" cy="548640"/>
          </a:xfrm>
          <a:prstGeom prst="rect">
            <a:avLst/>
          </a:prstGeom>
          <a:noFill/>
          <a:ln/>
        </p:spPr>
        <p:txBody>
          <a:bodyPr wrap="square" lIns="0" tIns="0" rIns="0" bIns="0" rtlCol="0" anchor="ctr"/>
          <a:lstStyle/>
          <a:p>
            <a:pPr algn="ctr" indent="0" marL="0">
              <a:buNone/>
            </a:pPr>
            <a:r>
              <a:rPr lang="en-US" sz="1300" b="1" dirty="0">
                <a:solidFill>
                  <a:srgbClr val="E05C5C"/>
                </a:solidFill>
                <a:latin typeface="Calibri" pitchFamily="34" charset="0"/>
                <a:ea typeface="Calibri" pitchFamily="34" charset="-122"/>
                <a:cs typeface="Calibri" pitchFamily="34" charset="-120"/>
              </a:rPr>
              <a:t>Every unverified dependency entering NFCU's environment is a potential supply chain attack vector.</a:t>
            </a:r>
            <a:endParaRPr lang="en-US" sz="1300" dirty="0"/>
          </a:p>
        </p:txBody>
      </p:sp>
      <p:sp>
        <p:nvSpPr>
          <p:cNvPr id="18" name="Text 13"/>
          <p:cNvSpPr/>
          <p:nvPr/>
        </p:nvSpPr>
        <p:spPr>
          <a:xfrm>
            <a:off x="548640" y="4864608"/>
            <a:ext cx="8046720" cy="201168"/>
          </a:xfrm>
          <a:prstGeom prst="rect">
            <a:avLst/>
          </a:prstGeom>
          <a:noFill/>
          <a:ln/>
        </p:spPr>
        <p:txBody>
          <a:bodyPr wrap="square" lIns="0" tIns="0" rIns="0" bIns="0" rtlCol="0" anchor="ctr"/>
          <a:lstStyle/>
          <a:p>
            <a:pPr algn="ctr" indent="0" marL="0">
              <a:buNone/>
            </a:pPr>
            <a:r>
              <a:rPr lang="en-US" sz="800" dirty="0">
                <a:solidFill>
                  <a:srgbClr val="2C4A72"/>
                </a:solidFill>
                <a:latin typeface="Calibri" pitchFamily="34" charset="0"/>
                <a:ea typeface="Calibri" pitchFamily="34" charset="-122"/>
                <a:cs typeface="Calibri" pitchFamily="34" charset="-120"/>
              </a:rPr>
              <a:t>Sources: Verizon DBIR 2025  ·  Sonatype State of the Software Supply Chain 2026  ·  IBM Cost of a Data Breach Report 2025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02  /  CURRENT STATE</a:t>
            </a:r>
            <a:endParaRPr lang="en-US" sz="900" dirty="0"/>
          </a:p>
        </p:txBody>
      </p:sp>
      <p:sp>
        <p:nvSpPr>
          <p:cNvPr id="3" name="Text 1"/>
          <p:cNvSpPr/>
          <p:nvPr/>
        </p:nvSpPr>
        <p:spPr>
          <a:xfrm>
            <a:off x="548640" y="457200"/>
            <a:ext cx="8229600" cy="640080"/>
          </a:xfrm>
          <a:prstGeom prst="rect">
            <a:avLst/>
          </a:prstGeom>
          <a:noFill/>
          <a:ln/>
        </p:spPr>
        <p:txBody>
          <a:bodyPr wrap="square" lIns="0" tIns="0" rIns="0" bIns="0" rtlCol="0" anchor="ctr"/>
          <a:lstStyle/>
          <a:p>
            <a:pPr indent="0" marL="0">
              <a:buNone/>
            </a:pPr>
            <a:r>
              <a:rPr lang="en-US" sz="3000" b="1" dirty="0">
                <a:solidFill>
                  <a:srgbClr val="0D1E3A"/>
                </a:solidFill>
                <a:latin typeface="Calibri" pitchFamily="34" charset="0"/>
                <a:ea typeface="Calibri" pitchFamily="34" charset="-122"/>
                <a:cs typeface="Calibri" pitchFamily="34" charset="-120"/>
              </a:rPr>
              <a:t>What We Have in Place Today</a:t>
            </a:r>
            <a:endParaRPr lang="en-US" sz="3000" dirty="0"/>
          </a:p>
        </p:txBody>
      </p:sp>
      <p:sp>
        <p:nvSpPr>
          <p:cNvPr id="4" name="Text 2"/>
          <p:cNvSpPr/>
          <p:nvPr/>
        </p:nvSpPr>
        <p:spPr>
          <a:xfrm>
            <a:off x="548640" y="1078992"/>
            <a:ext cx="7772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NFCU has a functional intake process with three core controls — a solid foundation to build on.</a:t>
            </a:r>
            <a:endParaRPr lang="en-US" sz="1300" dirty="0"/>
          </a:p>
        </p:txBody>
      </p:sp>
      <p:sp>
        <p:nvSpPr>
          <p:cNvPr id="5" name="Shape 3"/>
          <p:cNvSpPr/>
          <p:nvPr/>
        </p:nvSpPr>
        <p:spPr>
          <a:xfrm>
            <a:off x="320040" y="1600200"/>
            <a:ext cx="1572768" cy="3017520"/>
          </a:xfrm>
          <a:prstGeom prst="roundRect">
            <a:avLst>
              <a:gd name="adj" fmla="val 4651"/>
            </a:avLst>
          </a:prstGeom>
          <a:solidFill>
            <a:srgbClr val="FFFFFF"/>
          </a:solidFill>
          <a:ln w="12700">
            <a:solidFill>
              <a:srgbClr val="E2E8F0"/>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20040" y="1600200"/>
            <a:ext cx="1572768" cy="457200"/>
          </a:xfrm>
          <a:prstGeom prst="roundRect">
            <a:avLst>
              <a:gd name="adj" fmla="val 16000"/>
            </a:avLst>
          </a:prstGeom>
          <a:solidFill>
            <a:srgbClr val="1A7A40"/>
          </a:solidFill>
          <a:ln w="12700">
            <a:solidFill>
              <a:srgbClr val="1A7A40"/>
            </a:solidFill>
            <a:prstDash val="solid"/>
          </a:ln>
        </p:spPr>
      </p:sp>
      <p:sp>
        <p:nvSpPr>
          <p:cNvPr id="7" name="Shape 5"/>
          <p:cNvSpPr/>
          <p:nvPr/>
        </p:nvSpPr>
        <p:spPr>
          <a:xfrm>
            <a:off x="320040" y="1792224"/>
            <a:ext cx="1572768" cy="292608"/>
          </a:xfrm>
          <a:prstGeom prst="rect">
            <a:avLst/>
          </a:prstGeom>
          <a:solidFill>
            <a:srgbClr val="1A7A40"/>
          </a:solidFill>
          <a:ln w="12700">
            <a:solidFill>
              <a:srgbClr val="1A7A40"/>
            </a:solidFill>
            <a:prstDash val="solid"/>
          </a:ln>
        </p:spPr>
      </p:sp>
      <p:sp>
        <p:nvSpPr>
          <p:cNvPr id="8" name="Text 6"/>
          <p:cNvSpPr/>
          <p:nvPr/>
        </p:nvSpPr>
        <p:spPr>
          <a:xfrm>
            <a:off x="320040" y="1618488"/>
            <a:ext cx="15727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320040" y="2084832"/>
            <a:ext cx="1572768" cy="457200"/>
          </a:xfrm>
          <a:prstGeom prst="rect">
            <a:avLst/>
          </a:prstGeom>
          <a:noFill/>
          <a:ln/>
        </p:spPr>
        <p:txBody>
          <a:bodyPr wrap="square" lIns="0" tIns="0" rIns="0" bIns="0" rtlCol="0" anchor="ctr"/>
          <a:lstStyle/>
          <a:p>
            <a:pPr algn="ctr" indent="0" marL="0">
              <a:buNone/>
            </a:pPr>
            <a:r>
              <a:rPr lang="en-US" sz="1000" b="1" dirty="0">
                <a:solidFill>
                  <a:srgbClr val="0D1E3A"/>
                </a:solidFill>
                <a:latin typeface="Calibri" pitchFamily="34" charset="0"/>
                <a:ea typeface="Calibri" pitchFamily="34" charset="-122"/>
                <a:cs typeface="Calibri" pitchFamily="34" charset="-120"/>
              </a:rPr>
              <a:t>Intake &amp; Trust</a:t>
            </a:r>
            <a:endParaRPr lang="en-US" sz="1000" dirty="0"/>
          </a:p>
        </p:txBody>
      </p:sp>
      <p:sp>
        <p:nvSpPr>
          <p:cNvPr id="10" name="Text 8"/>
          <p:cNvSpPr/>
          <p:nvPr/>
        </p:nvSpPr>
        <p:spPr>
          <a:xfrm>
            <a:off x="393192" y="260604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ServiceNow intake</a:t>
            </a:r>
            <a:endParaRPr lang="en-US" sz="950" dirty="0"/>
          </a:p>
        </p:txBody>
      </p:sp>
      <p:sp>
        <p:nvSpPr>
          <p:cNvPr id="11" name="Text 9"/>
          <p:cNvSpPr/>
          <p:nvPr/>
        </p:nvSpPr>
        <p:spPr>
          <a:xfrm>
            <a:off x="393192" y="310896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Manager approval</a:t>
            </a:r>
            <a:endParaRPr lang="en-US" sz="950" dirty="0"/>
          </a:p>
        </p:txBody>
      </p:sp>
      <p:sp>
        <p:nvSpPr>
          <p:cNvPr id="12" name="Text 10"/>
          <p:cNvSpPr/>
          <p:nvPr/>
        </p:nvSpPr>
        <p:spPr>
          <a:xfrm>
            <a:off x="393192" y="361188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Trusted repos only</a:t>
            </a:r>
            <a:endParaRPr lang="en-US" sz="950" dirty="0"/>
          </a:p>
        </p:txBody>
      </p:sp>
      <p:sp>
        <p:nvSpPr>
          <p:cNvPr id="13" name="Shape 11"/>
          <p:cNvSpPr/>
          <p:nvPr/>
        </p:nvSpPr>
        <p:spPr>
          <a:xfrm>
            <a:off x="2029968" y="1600200"/>
            <a:ext cx="1572768" cy="3017520"/>
          </a:xfrm>
          <a:prstGeom prst="roundRect">
            <a:avLst>
              <a:gd name="adj" fmla="val 4651"/>
            </a:avLst>
          </a:prstGeom>
          <a:solidFill>
            <a:srgbClr val="FFFFFF"/>
          </a:solidFill>
          <a:ln w="12700">
            <a:solidFill>
              <a:srgbClr val="E2E8F0"/>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029968" y="1600200"/>
            <a:ext cx="1572768" cy="457200"/>
          </a:xfrm>
          <a:prstGeom prst="roundRect">
            <a:avLst>
              <a:gd name="adj" fmla="val 16000"/>
            </a:avLst>
          </a:prstGeom>
          <a:solidFill>
            <a:srgbClr val="D4860A"/>
          </a:solidFill>
          <a:ln w="12700">
            <a:solidFill>
              <a:srgbClr val="D4860A"/>
            </a:solidFill>
            <a:prstDash val="solid"/>
          </a:ln>
        </p:spPr>
      </p:sp>
      <p:sp>
        <p:nvSpPr>
          <p:cNvPr id="15" name="Shape 13"/>
          <p:cNvSpPr/>
          <p:nvPr/>
        </p:nvSpPr>
        <p:spPr>
          <a:xfrm>
            <a:off x="2029968" y="1792224"/>
            <a:ext cx="1572768" cy="292608"/>
          </a:xfrm>
          <a:prstGeom prst="rect">
            <a:avLst/>
          </a:prstGeom>
          <a:solidFill>
            <a:srgbClr val="D4860A"/>
          </a:solidFill>
          <a:ln w="12700">
            <a:solidFill>
              <a:srgbClr val="D4860A"/>
            </a:solidFill>
            <a:prstDash val="solid"/>
          </a:ln>
        </p:spPr>
      </p:sp>
      <p:sp>
        <p:nvSpPr>
          <p:cNvPr id="16" name="Text 14"/>
          <p:cNvSpPr/>
          <p:nvPr/>
        </p:nvSpPr>
        <p:spPr>
          <a:xfrm>
            <a:off x="2029968" y="1618488"/>
            <a:ext cx="15727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2029968" y="2084832"/>
            <a:ext cx="1572768" cy="457200"/>
          </a:xfrm>
          <a:prstGeom prst="rect">
            <a:avLst/>
          </a:prstGeom>
          <a:noFill/>
          <a:ln/>
        </p:spPr>
        <p:txBody>
          <a:bodyPr wrap="square" lIns="0" tIns="0" rIns="0" bIns="0" rtlCol="0" anchor="ctr"/>
          <a:lstStyle/>
          <a:p>
            <a:pPr algn="ctr" indent="0" marL="0">
              <a:buNone/>
            </a:pPr>
            <a:r>
              <a:rPr lang="en-US" sz="1000" b="1" dirty="0">
                <a:solidFill>
                  <a:srgbClr val="0D1E3A"/>
                </a:solidFill>
                <a:latin typeface="Calibri" pitchFamily="34" charset="0"/>
                <a:ea typeface="Calibri" pitchFamily="34" charset="-122"/>
                <a:cs typeface="Calibri" pitchFamily="34" charset="-120"/>
              </a:rPr>
              <a:t>Integrity &amp; Ingestion</a:t>
            </a:r>
            <a:endParaRPr lang="en-US" sz="1000" dirty="0"/>
          </a:p>
        </p:txBody>
      </p:sp>
      <p:sp>
        <p:nvSpPr>
          <p:cNvPr id="18" name="Text 16"/>
          <p:cNvSpPr/>
          <p:nvPr/>
        </p:nvSpPr>
        <p:spPr>
          <a:xfrm>
            <a:off x="2103120" y="260604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JFrog Curation (partial)</a:t>
            </a:r>
            <a:endParaRPr lang="en-US" sz="950" dirty="0"/>
          </a:p>
        </p:txBody>
      </p:sp>
      <p:sp>
        <p:nvSpPr>
          <p:cNvPr id="19" name="Text 17"/>
          <p:cNvSpPr/>
          <p:nvPr/>
        </p:nvSpPr>
        <p:spPr>
          <a:xfrm>
            <a:off x="2103120" y="310896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DMZ trust boundary</a:t>
            </a:r>
            <a:endParaRPr lang="en-US" sz="950" dirty="0"/>
          </a:p>
        </p:txBody>
      </p:sp>
      <p:sp>
        <p:nvSpPr>
          <p:cNvPr id="20" name="Text 18"/>
          <p:cNvSpPr/>
          <p:nvPr/>
        </p:nvSpPr>
        <p:spPr>
          <a:xfrm>
            <a:off x="2103120" y="361188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Hash locking — gap</a:t>
            </a:r>
            <a:endParaRPr lang="en-US" sz="950" dirty="0"/>
          </a:p>
        </p:txBody>
      </p:sp>
      <p:sp>
        <p:nvSpPr>
          <p:cNvPr id="21" name="Shape 19"/>
          <p:cNvSpPr/>
          <p:nvPr/>
        </p:nvSpPr>
        <p:spPr>
          <a:xfrm>
            <a:off x="3739896" y="1600200"/>
            <a:ext cx="1572768" cy="3017520"/>
          </a:xfrm>
          <a:prstGeom prst="roundRect">
            <a:avLst>
              <a:gd name="adj" fmla="val 4651"/>
            </a:avLst>
          </a:prstGeom>
          <a:solidFill>
            <a:srgbClr val="FFFFFF"/>
          </a:solidFill>
          <a:ln w="12700">
            <a:solidFill>
              <a:srgbClr val="E2E8F0"/>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3739896" y="1600200"/>
            <a:ext cx="1572768" cy="457200"/>
          </a:xfrm>
          <a:prstGeom prst="roundRect">
            <a:avLst>
              <a:gd name="adj" fmla="val 16000"/>
            </a:avLst>
          </a:prstGeom>
          <a:solidFill>
            <a:srgbClr val="D4860A"/>
          </a:solidFill>
          <a:ln w="12700">
            <a:solidFill>
              <a:srgbClr val="D4860A"/>
            </a:solidFill>
            <a:prstDash val="solid"/>
          </a:ln>
        </p:spPr>
      </p:sp>
      <p:sp>
        <p:nvSpPr>
          <p:cNvPr id="23" name="Shape 21"/>
          <p:cNvSpPr/>
          <p:nvPr/>
        </p:nvSpPr>
        <p:spPr>
          <a:xfrm>
            <a:off x="3739896" y="1792224"/>
            <a:ext cx="1572768" cy="292608"/>
          </a:xfrm>
          <a:prstGeom prst="rect">
            <a:avLst/>
          </a:prstGeom>
          <a:solidFill>
            <a:srgbClr val="D4860A"/>
          </a:solidFill>
          <a:ln w="12700">
            <a:solidFill>
              <a:srgbClr val="D4860A"/>
            </a:solidFill>
            <a:prstDash val="solid"/>
          </a:ln>
        </p:spPr>
      </p:sp>
      <p:sp>
        <p:nvSpPr>
          <p:cNvPr id="24" name="Text 22"/>
          <p:cNvSpPr/>
          <p:nvPr/>
        </p:nvSpPr>
        <p:spPr>
          <a:xfrm>
            <a:off x="3739896" y="1618488"/>
            <a:ext cx="15727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3"/>
          <p:cNvSpPr/>
          <p:nvPr/>
        </p:nvSpPr>
        <p:spPr>
          <a:xfrm>
            <a:off x="3739896" y="2084832"/>
            <a:ext cx="1572768" cy="457200"/>
          </a:xfrm>
          <a:prstGeom prst="rect">
            <a:avLst/>
          </a:prstGeom>
          <a:noFill/>
          <a:ln/>
        </p:spPr>
        <p:txBody>
          <a:bodyPr wrap="square" lIns="0" tIns="0" rIns="0" bIns="0" rtlCol="0" anchor="ctr"/>
          <a:lstStyle/>
          <a:p>
            <a:pPr algn="ctr" indent="0" marL="0">
              <a:buNone/>
            </a:pPr>
            <a:r>
              <a:rPr lang="en-US" sz="1000" b="1" dirty="0">
                <a:solidFill>
                  <a:srgbClr val="0D1E3A"/>
                </a:solidFill>
                <a:latin typeface="Calibri" pitchFamily="34" charset="0"/>
                <a:ea typeface="Calibri" pitchFamily="34" charset="-122"/>
                <a:cs typeface="Calibri" pitchFamily="34" charset="-120"/>
              </a:rPr>
              <a:t>Security &amp; Enforcement</a:t>
            </a:r>
            <a:endParaRPr lang="en-US" sz="1000" dirty="0"/>
          </a:p>
        </p:txBody>
      </p:sp>
      <p:sp>
        <p:nvSpPr>
          <p:cNvPr id="26" name="Text 24"/>
          <p:cNvSpPr/>
          <p:nvPr/>
        </p:nvSpPr>
        <p:spPr>
          <a:xfrm>
            <a:off x="3813048" y="260604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Xray scanning</a:t>
            </a:r>
            <a:endParaRPr lang="en-US" sz="950" dirty="0"/>
          </a:p>
        </p:txBody>
      </p:sp>
      <p:sp>
        <p:nvSpPr>
          <p:cNvPr id="27" name="Text 25"/>
          <p:cNvSpPr/>
          <p:nvPr/>
        </p:nvSpPr>
        <p:spPr>
          <a:xfrm>
            <a:off x="3813048" y="310896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Critical CVEs only</a:t>
            </a:r>
            <a:endParaRPr lang="en-US" sz="950" dirty="0"/>
          </a:p>
        </p:txBody>
      </p:sp>
      <p:sp>
        <p:nvSpPr>
          <p:cNvPr id="28" name="Text 26"/>
          <p:cNvSpPr/>
          <p:nvPr/>
        </p:nvSpPr>
        <p:spPr>
          <a:xfrm>
            <a:off x="3813048" y="361188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SBOM — gap</a:t>
            </a:r>
            <a:endParaRPr lang="en-US" sz="950" dirty="0"/>
          </a:p>
        </p:txBody>
      </p:sp>
      <p:sp>
        <p:nvSpPr>
          <p:cNvPr id="29" name="Shape 27"/>
          <p:cNvSpPr/>
          <p:nvPr/>
        </p:nvSpPr>
        <p:spPr>
          <a:xfrm>
            <a:off x="5449824" y="1600200"/>
            <a:ext cx="1572768" cy="3017520"/>
          </a:xfrm>
          <a:prstGeom prst="roundRect">
            <a:avLst>
              <a:gd name="adj" fmla="val 4651"/>
            </a:avLst>
          </a:prstGeom>
          <a:solidFill>
            <a:srgbClr val="FFFFFF"/>
          </a:solidFill>
          <a:ln w="12700">
            <a:solidFill>
              <a:srgbClr val="E2E8F0"/>
            </a:solidFill>
            <a:prstDash val="solid"/>
          </a:ln>
          <a:effectLst>
            <a:outerShdw sx="100000" sy="100000" kx="0" ky="0" algn="bl" rotWithShape="0" blurRad="76200" dist="25400" dir="8100000">
              <a:srgbClr val="000000">
                <a:alpha val="12000"/>
              </a:srgbClr>
            </a:outerShdw>
          </a:effectLst>
        </p:spPr>
      </p:sp>
      <p:sp>
        <p:nvSpPr>
          <p:cNvPr id="30" name="Shape 28"/>
          <p:cNvSpPr/>
          <p:nvPr/>
        </p:nvSpPr>
        <p:spPr>
          <a:xfrm>
            <a:off x="5449824" y="1600200"/>
            <a:ext cx="1572768" cy="457200"/>
          </a:xfrm>
          <a:prstGeom prst="roundRect">
            <a:avLst>
              <a:gd name="adj" fmla="val 16000"/>
            </a:avLst>
          </a:prstGeom>
          <a:solidFill>
            <a:srgbClr val="E05C5C"/>
          </a:solidFill>
          <a:ln w="12700">
            <a:solidFill>
              <a:srgbClr val="E05C5C"/>
            </a:solidFill>
            <a:prstDash val="solid"/>
          </a:ln>
        </p:spPr>
      </p:sp>
      <p:sp>
        <p:nvSpPr>
          <p:cNvPr id="31" name="Shape 29"/>
          <p:cNvSpPr/>
          <p:nvPr/>
        </p:nvSpPr>
        <p:spPr>
          <a:xfrm>
            <a:off x="5449824" y="1792224"/>
            <a:ext cx="1572768" cy="292608"/>
          </a:xfrm>
          <a:prstGeom prst="rect">
            <a:avLst/>
          </a:prstGeom>
          <a:solidFill>
            <a:srgbClr val="E05C5C"/>
          </a:solidFill>
          <a:ln w="12700">
            <a:solidFill>
              <a:srgbClr val="E05C5C"/>
            </a:solidFill>
            <a:prstDash val="solid"/>
          </a:ln>
        </p:spPr>
      </p:sp>
      <p:sp>
        <p:nvSpPr>
          <p:cNvPr id="32" name="Text 30"/>
          <p:cNvSpPr/>
          <p:nvPr/>
        </p:nvSpPr>
        <p:spPr>
          <a:xfrm>
            <a:off x="5449824" y="1618488"/>
            <a:ext cx="15727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3" name="Text 31"/>
          <p:cNvSpPr/>
          <p:nvPr/>
        </p:nvSpPr>
        <p:spPr>
          <a:xfrm>
            <a:off x="5449824" y="2084832"/>
            <a:ext cx="1572768" cy="457200"/>
          </a:xfrm>
          <a:prstGeom prst="rect">
            <a:avLst/>
          </a:prstGeom>
          <a:noFill/>
          <a:ln/>
        </p:spPr>
        <p:txBody>
          <a:bodyPr wrap="square" lIns="0" tIns="0" rIns="0" bIns="0" rtlCol="0" anchor="ctr"/>
          <a:lstStyle/>
          <a:p>
            <a:pPr algn="ctr" indent="0" marL="0">
              <a:buNone/>
            </a:pPr>
            <a:r>
              <a:rPr lang="en-US" sz="1000" b="1" dirty="0">
                <a:solidFill>
                  <a:srgbClr val="0D1E3A"/>
                </a:solidFill>
                <a:latin typeface="Calibri" pitchFamily="34" charset="0"/>
                <a:ea typeface="Calibri" pitchFamily="34" charset="-122"/>
                <a:cs typeface="Calibri" pitchFamily="34" charset="-120"/>
              </a:rPr>
              <a:t>Distribution</a:t>
            </a:r>
            <a:endParaRPr lang="en-US" sz="1000" dirty="0"/>
          </a:p>
        </p:txBody>
      </p:sp>
      <p:sp>
        <p:nvSpPr>
          <p:cNvPr id="34" name="Text 32"/>
          <p:cNvSpPr/>
          <p:nvPr/>
        </p:nvSpPr>
        <p:spPr>
          <a:xfrm>
            <a:off x="5522976" y="2606040"/>
            <a:ext cx="1426464" cy="438912"/>
          </a:xfrm>
          <a:prstGeom prst="rect">
            <a:avLst/>
          </a:prstGeom>
          <a:noFill/>
          <a:ln/>
        </p:spPr>
        <p:txBody>
          <a:bodyPr wrap="square" lIns="0" tIns="0" rIns="0" bIns="0" rtlCol="0" anchor="ctr"/>
          <a:lstStyle/>
          <a:p>
            <a:pPr indent="0" marL="0">
              <a:buNone/>
            </a:pPr>
            <a:r>
              <a:rPr lang="en-US" sz="950" b="1" dirty="0">
                <a:solidFill>
                  <a:srgbClr val="1A7A40"/>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Artifactory routing</a:t>
            </a:r>
            <a:endParaRPr lang="en-US" sz="950" dirty="0"/>
          </a:p>
        </p:txBody>
      </p:sp>
      <p:sp>
        <p:nvSpPr>
          <p:cNvPr id="35" name="Text 33"/>
          <p:cNvSpPr/>
          <p:nvPr/>
        </p:nvSpPr>
        <p:spPr>
          <a:xfrm>
            <a:off x="5522976" y="310896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Some teams bypass</a:t>
            </a:r>
            <a:endParaRPr lang="en-US" sz="950" dirty="0"/>
          </a:p>
        </p:txBody>
      </p:sp>
      <p:sp>
        <p:nvSpPr>
          <p:cNvPr id="36" name="Text 34"/>
          <p:cNvSpPr/>
          <p:nvPr/>
        </p:nvSpPr>
        <p:spPr>
          <a:xfrm>
            <a:off x="5522976" y="361188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No audit trail</a:t>
            </a:r>
            <a:endParaRPr lang="en-US" sz="950" dirty="0"/>
          </a:p>
        </p:txBody>
      </p:sp>
      <p:sp>
        <p:nvSpPr>
          <p:cNvPr id="37" name="Shape 35"/>
          <p:cNvSpPr/>
          <p:nvPr/>
        </p:nvSpPr>
        <p:spPr>
          <a:xfrm>
            <a:off x="7159752" y="1600200"/>
            <a:ext cx="1572768" cy="3017520"/>
          </a:xfrm>
          <a:prstGeom prst="roundRect">
            <a:avLst>
              <a:gd name="adj" fmla="val 4651"/>
            </a:avLst>
          </a:prstGeom>
          <a:solidFill>
            <a:srgbClr val="FFFFFF"/>
          </a:solidFill>
          <a:ln w="12700">
            <a:solidFill>
              <a:srgbClr val="E2E8F0"/>
            </a:solidFill>
            <a:prstDash val="solid"/>
          </a:ln>
          <a:effectLst>
            <a:outerShdw sx="100000" sy="100000" kx="0" ky="0" algn="bl" rotWithShape="0" blurRad="76200" dist="25400" dir="8100000">
              <a:srgbClr val="000000">
                <a:alpha val="12000"/>
              </a:srgbClr>
            </a:outerShdw>
          </a:effectLst>
        </p:spPr>
      </p:sp>
      <p:sp>
        <p:nvSpPr>
          <p:cNvPr id="38" name="Shape 36"/>
          <p:cNvSpPr/>
          <p:nvPr/>
        </p:nvSpPr>
        <p:spPr>
          <a:xfrm>
            <a:off x="7159752" y="1600200"/>
            <a:ext cx="1572768" cy="457200"/>
          </a:xfrm>
          <a:prstGeom prst="roundRect">
            <a:avLst>
              <a:gd name="adj" fmla="val 16000"/>
            </a:avLst>
          </a:prstGeom>
          <a:solidFill>
            <a:srgbClr val="E05C5C"/>
          </a:solidFill>
          <a:ln w="12700">
            <a:solidFill>
              <a:srgbClr val="E05C5C"/>
            </a:solidFill>
            <a:prstDash val="solid"/>
          </a:ln>
        </p:spPr>
      </p:sp>
      <p:sp>
        <p:nvSpPr>
          <p:cNvPr id="39" name="Shape 37"/>
          <p:cNvSpPr/>
          <p:nvPr/>
        </p:nvSpPr>
        <p:spPr>
          <a:xfrm>
            <a:off x="7159752" y="1792224"/>
            <a:ext cx="1572768" cy="292608"/>
          </a:xfrm>
          <a:prstGeom prst="rect">
            <a:avLst/>
          </a:prstGeom>
          <a:solidFill>
            <a:srgbClr val="E05C5C"/>
          </a:solidFill>
          <a:ln w="12700">
            <a:solidFill>
              <a:srgbClr val="E05C5C"/>
            </a:solidFill>
            <a:prstDash val="solid"/>
          </a:ln>
        </p:spPr>
      </p:sp>
      <p:sp>
        <p:nvSpPr>
          <p:cNvPr id="40" name="Text 38"/>
          <p:cNvSpPr/>
          <p:nvPr/>
        </p:nvSpPr>
        <p:spPr>
          <a:xfrm>
            <a:off x="7159752" y="1618488"/>
            <a:ext cx="15727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1" name="Text 39"/>
          <p:cNvSpPr/>
          <p:nvPr/>
        </p:nvSpPr>
        <p:spPr>
          <a:xfrm>
            <a:off x="7159752" y="2084832"/>
            <a:ext cx="1572768" cy="457200"/>
          </a:xfrm>
          <a:prstGeom prst="rect">
            <a:avLst/>
          </a:prstGeom>
          <a:noFill/>
          <a:ln/>
        </p:spPr>
        <p:txBody>
          <a:bodyPr wrap="square" lIns="0" tIns="0" rIns="0" bIns="0" rtlCol="0" anchor="ctr"/>
          <a:lstStyle/>
          <a:p>
            <a:pPr algn="ctr" indent="0" marL="0">
              <a:buNone/>
            </a:pPr>
            <a:r>
              <a:rPr lang="en-US" sz="1000" b="1" dirty="0">
                <a:solidFill>
                  <a:srgbClr val="0D1E3A"/>
                </a:solidFill>
                <a:latin typeface="Calibri" pitchFamily="34" charset="0"/>
                <a:ea typeface="Calibri" pitchFamily="34" charset="-122"/>
                <a:cs typeface="Calibri" pitchFamily="34" charset="-120"/>
              </a:rPr>
              <a:t>Monitoring &amp; Response</a:t>
            </a:r>
            <a:endParaRPr lang="en-US" sz="1000" dirty="0"/>
          </a:p>
        </p:txBody>
      </p:sp>
      <p:sp>
        <p:nvSpPr>
          <p:cNvPr id="42" name="Text 40"/>
          <p:cNvSpPr/>
          <p:nvPr/>
        </p:nvSpPr>
        <p:spPr>
          <a:xfrm>
            <a:off x="7232904" y="260604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Manual IR only</a:t>
            </a:r>
            <a:endParaRPr lang="en-US" sz="950" dirty="0"/>
          </a:p>
        </p:txBody>
      </p:sp>
      <p:sp>
        <p:nvSpPr>
          <p:cNvPr id="43" name="Text 41"/>
          <p:cNvSpPr/>
          <p:nvPr/>
        </p:nvSpPr>
        <p:spPr>
          <a:xfrm>
            <a:off x="7232904" y="310896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No auto-notification</a:t>
            </a:r>
            <a:endParaRPr lang="en-US" sz="950" dirty="0"/>
          </a:p>
        </p:txBody>
      </p:sp>
      <p:sp>
        <p:nvSpPr>
          <p:cNvPr id="44" name="Text 42"/>
          <p:cNvSpPr/>
          <p:nvPr/>
        </p:nvSpPr>
        <p:spPr>
          <a:xfrm>
            <a:off x="7232904" y="3611880"/>
            <a:ext cx="1426464" cy="438912"/>
          </a:xfrm>
          <a:prstGeom prst="rect">
            <a:avLst/>
          </a:prstGeom>
          <a:noFill/>
          <a:ln/>
        </p:spPr>
        <p:txBody>
          <a:bodyPr wrap="square" lIns="0" tIns="0" rIns="0" bIns="0" rtlCol="0" anchor="ctr"/>
          <a:lstStyle/>
          <a:p>
            <a:pPr indent="0" marL="0">
              <a:buNone/>
            </a:pPr>
            <a:r>
              <a:rPr lang="en-US" sz="950" b="1" dirty="0">
                <a:solidFill>
                  <a:srgbClr val="D4860A"/>
                </a:solidFill>
                <a:latin typeface="Calibri" pitchFamily="34" charset="0"/>
                <a:ea typeface="Calibri" pitchFamily="34" charset="-122"/>
                <a:cs typeface="Calibri" pitchFamily="34" charset="-120"/>
              </a:rPr>
              <a:t>⚠ </a:t>
            </a:r>
            <a:pPr indent="0" marL="0">
              <a:buNone/>
            </a:pPr>
            <a:r>
              <a:rPr lang="en-US" sz="950" dirty="0">
                <a:solidFill>
                  <a:srgbClr val="64748B"/>
                </a:solidFill>
                <a:latin typeface="Calibri" pitchFamily="34" charset="0"/>
                <a:ea typeface="Calibri" pitchFamily="34" charset="-122"/>
                <a:cs typeface="Calibri" pitchFamily="34" charset="-120"/>
              </a:rPr>
              <a:t>No lifecycle review</a:t>
            </a:r>
            <a:endParaRPr lang="en-US" sz="950" dirty="0"/>
          </a:p>
        </p:txBody>
      </p:sp>
      <p:sp>
        <p:nvSpPr>
          <p:cNvPr id="45" name="Text 43"/>
          <p:cNvSpPr/>
          <p:nvPr/>
        </p:nvSpPr>
        <p:spPr>
          <a:xfrm>
            <a:off x="548640" y="4754880"/>
            <a:ext cx="2011680" cy="228600"/>
          </a:xfrm>
          <a:prstGeom prst="rect">
            <a:avLst/>
          </a:prstGeom>
          <a:noFill/>
          <a:ln/>
        </p:spPr>
        <p:txBody>
          <a:bodyPr wrap="square" lIns="0" tIns="0" rIns="0" bIns="0" rtlCol="0" anchor="ctr"/>
          <a:lstStyle/>
          <a:p>
            <a:pPr indent="0" marL="0">
              <a:buNone/>
            </a:pPr>
            <a:r>
              <a:rPr lang="en-US" sz="900" dirty="0">
                <a:solidFill>
                  <a:srgbClr val="1A7A40"/>
                </a:solidFill>
                <a:latin typeface="Calibri" pitchFamily="34" charset="0"/>
                <a:ea typeface="Calibri" pitchFamily="34" charset="-122"/>
                <a:cs typeface="Calibri" pitchFamily="34" charset="-120"/>
              </a:rPr>
              <a:t>✓ Controlled / Working</a:t>
            </a:r>
            <a:endParaRPr lang="en-US" sz="900" dirty="0"/>
          </a:p>
        </p:txBody>
      </p:sp>
      <p:sp>
        <p:nvSpPr>
          <p:cNvPr id="46" name="Text 44"/>
          <p:cNvSpPr/>
          <p:nvPr/>
        </p:nvSpPr>
        <p:spPr>
          <a:xfrm>
            <a:off x="2651760" y="4754880"/>
            <a:ext cx="1645920" cy="228600"/>
          </a:xfrm>
          <a:prstGeom prst="rect">
            <a:avLst/>
          </a:prstGeom>
          <a:noFill/>
          <a:ln/>
        </p:spPr>
        <p:txBody>
          <a:bodyPr wrap="square" lIns="0" tIns="0" rIns="0" bIns="0" rtlCol="0" anchor="ctr"/>
          <a:lstStyle/>
          <a:p>
            <a:pPr indent="0" marL="0">
              <a:buNone/>
            </a:pPr>
            <a:r>
              <a:rPr lang="en-US" sz="900" dirty="0">
                <a:solidFill>
                  <a:srgbClr val="D4860A"/>
                </a:solidFill>
                <a:latin typeface="Calibri" pitchFamily="34" charset="0"/>
                <a:ea typeface="Calibri" pitchFamily="34" charset="-122"/>
                <a:cs typeface="Calibri" pitchFamily="34" charset="-120"/>
              </a:rPr>
              <a:t>⚠ Partial / Gap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E3A"/>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8AAAC0"/>
                </a:solidFill>
                <a:latin typeface="Calibri" pitchFamily="34" charset="0"/>
                <a:ea typeface="Calibri" pitchFamily="34" charset="-122"/>
                <a:cs typeface="Calibri" pitchFamily="34" charset="-120"/>
              </a:rPr>
              <a:t>03  /  WHERE THE RISK LIVES</a:t>
            </a:r>
            <a:endParaRPr lang="en-US" sz="9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10 Gaps That Expose NFCU Today</a:t>
            </a:r>
            <a:endParaRPr lang="en-US" sz="3000" dirty="0"/>
          </a:p>
        </p:txBody>
      </p:sp>
      <p:sp>
        <p:nvSpPr>
          <p:cNvPr id="4" name="Shape 2"/>
          <p:cNvSpPr/>
          <p:nvPr/>
        </p:nvSpPr>
        <p:spPr>
          <a:xfrm>
            <a:off x="320040" y="1234440"/>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5" name="Text 3"/>
          <p:cNvSpPr/>
          <p:nvPr/>
        </p:nvSpPr>
        <p:spPr>
          <a:xfrm>
            <a:off x="411480" y="1234440"/>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777240" y="1289304"/>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Teams bypass Artifactory</a:t>
            </a:r>
            <a:endParaRPr lang="en-US" sz="1100" dirty="0"/>
          </a:p>
        </p:txBody>
      </p:sp>
      <p:sp>
        <p:nvSpPr>
          <p:cNvPr id="7" name="Text 5"/>
          <p:cNvSpPr/>
          <p:nvPr/>
        </p:nvSpPr>
        <p:spPr>
          <a:xfrm>
            <a:off x="777240" y="1563624"/>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Unvetted code enters systems with zero controls applied</a:t>
            </a:r>
            <a:endParaRPr lang="en-US" sz="950" dirty="0"/>
          </a:p>
        </p:txBody>
      </p:sp>
      <p:sp>
        <p:nvSpPr>
          <p:cNvPr id="8" name="Shape 6"/>
          <p:cNvSpPr/>
          <p:nvPr/>
        </p:nvSpPr>
        <p:spPr>
          <a:xfrm>
            <a:off x="320040" y="1984248"/>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411480" y="1984248"/>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777240" y="2039112"/>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Only Critical CVEs blocked</a:t>
            </a:r>
            <a:endParaRPr lang="en-US" sz="1100" dirty="0"/>
          </a:p>
        </p:txBody>
      </p:sp>
      <p:sp>
        <p:nvSpPr>
          <p:cNvPr id="11" name="Text 9"/>
          <p:cNvSpPr/>
          <p:nvPr/>
        </p:nvSpPr>
        <p:spPr>
          <a:xfrm>
            <a:off x="777240" y="2313432"/>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High and Medium vulnerabilities pass through unchecked</a:t>
            </a:r>
            <a:endParaRPr lang="en-US" sz="950" dirty="0"/>
          </a:p>
        </p:txBody>
      </p:sp>
      <p:sp>
        <p:nvSpPr>
          <p:cNvPr id="12" name="Shape 10"/>
          <p:cNvSpPr/>
          <p:nvPr/>
        </p:nvSpPr>
        <p:spPr>
          <a:xfrm>
            <a:off x="320040" y="2734056"/>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411480" y="2734056"/>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777240" y="2788920"/>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Manual incident response</a:t>
            </a:r>
            <a:endParaRPr lang="en-US" sz="1100" dirty="0"/>
          </a:p>
        </p:txBody>
      </p:sp>
      <p:sp>
        <p:nvSpPr>
          <p:cNvPr id="15" name="Text 13"/>
          <p:cNvSpPr/>
          <p:nvPr/>
        </p:nvSpPr>
        <p:spPr>
          <a:xfrm>
            <a:off x="777240" y="3063240"/>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Zero-day response depends on human speed, not automation</a:t>
            </a:r>
            <a:endParaRPr lang="en-US" sz="950" dirty="0"/>
          </a:p>
        </p:txBody>
      </p:sp>
      <p:sp>
        <p:nvSpPr>
          <p:cNvPr id="16" name="Shape 14"/>
          <p:cNvSpPr/>
          <p:nvPr/>
        </p:nvSpPr>
        <p:spPr>
          <a:xfrm>
            <a:off x="320040" y="3483864"/>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17" name="Text 15"/>
          <p:cNvSpPr/>
          <p:nvPr/>
        </p:nvSpPr>
        <p:spPr>
          <a:xfrm>
            <a:off x="411480" y="3483864"/>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777240" y="3538728"/>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enterprise artifact visibility</a:t>
            </a:r>
            <a:endParaRPr lang="en-US" sz="1100" dirty="0"/>
          </a:p>
        </p:txBody>
      </p:sp>
      <p:sp>
        <p:nvSpPr>
          <p:cNvPr id="19" name="Text 17"/>
          <p:cNvSpPr/>
          <p:nvPr/>
        </p:nvSpPr>
        <p:spPr>
          <a:xfrm>
            <a:off x="777240" y="3813048"/>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Cannot map which applications consume which dependencies</a:t>
            </a:r>
            <a:endParaRPr lang="en-US" sz="950" dirty="0"/>
          </a:p>
        </p:txBody>
      </p:sp>
      <p:sp>
        <p:nvSpPr>
          <p:cNvPr id="20" name="Shape 18"/>
          <p:cNvSpPr/>
          <p:nvPr/>
        </p:nvSpPr>
        <p:spPr>
          <a:xfrm>
            <a:off x="320040" y="4233672"/>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21" name="Text 19"/>
          <p:cNvSpPr/>
          <p:nvPr/>
        </p:nvSpPr>
        <p:spPr>
          <a:xfrm>
            <a:off x="411480" y="4233672"/>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777240" y="4288536"/>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SBOM for third-party deps</a:t>
            </a:r>
            <a:endParaRPr lang="en-US" sz="1100" dirty="0"/>
          </a:p>
        </p:txBody>
      </p:sp>
      <p:sp>
        <p:nvSpPr>
          <p:cNvPr id="23" name="Text 21"/>
          <p:cNvSpPr/>
          <p:nvPr/>
        </p:nvSpPr>
        <p:spPr>
          <a:xfrm>
            <a:off x="777240" y="4562856"/>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Cannot produce bill of materials for compliance or audits</a:t>
            </a:r>
            <a:endParaRPr lang="en-US" sz="950" dirty="0"/>
          </a:p>
        </p:txBody>
      </p:sp>
      <p:sp>
        <p:nvSpPr>
          <p:cNvPr id="24" name="Shape 22"/>
          <p:cNvSpPr/>
          <p:nvPr/>
        </p:nvSpPr>
        <p:spPr>
          <a:xfrm>
            <a:off x="4709160" y="1234440"/>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25" name="Text 23"/>
          <p:cNvSpPr/>
          <p:nvPr/>
        </p:nvSpPr>
        <p:spPr>
          <a:xfrm>
            <a:off x="4800600" y="1234440"/>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6</a:t>
            </a:r>
            <a:endParaRPr lang="en-US" sz="1100" dirty="0"/>
          </a:p>
        </p:txBody>
      </p:sp>
      <p:sp>
        <p:nvSpPr>
          <p:cNvPr id="26" name="Text 24"/>
          <p:cNvSpPr/>
          <p:nvPr/>
        </p:nvSpPr>
        <p:spPr>
          <a:xfrm>
            <a:off x="5166360" y="1289304"/>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provenance verification</a:t>
            </a:r>
            <a:endParaRPr lang="en-US" sz="1100" dirty="0"/>
          </a:p>
        </p:txBody>
      </p:sp>
      <p:sp>
        <p:nvSpPr>
          <p:cNvPr id="27" name="Text 25"/>
          <p:cNvSpPr/>
          <p:nvPr/>
        </p:nvSpPr>
        <p:spPr>
          <a:xfrm>
            <a:off x="5166360" y="1563624"/>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Cannot confirm artifact came from a trusted, unaltered source</a:t>
            </a:r>
            <a:endParaRPr lang="en-US" sz="950" dirty="0"/>
          </a:p>
        </p:txBody>
      </p:sp>
      <p:sp>
        <p:nvSpPr>
          <p:cNvPr id="28" name="Shape 26"/>
          <p:cNvSpPr/>
          <p:nvPr/>
        </p:nvSpPr>
        <p:spPr>
          <a:xfrm>
            <a:off x="4709160" y="1984248"/>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29" name="Text 27"/>
          <p:cNvSpPr/>
          <p:nvPr/>
        </p:nvSpPr>
        <p:spPr>
          <a:xfrm>
            <a:off x="4800600" y="1984248"/>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7</a:t>
            </a:r>
            <a:endParaRPr lang="en-US" sz="1100" dirty="0"/>
          </a:p>
        </p:txBody>
      </p:sp>
      <p:sp>
        <p:nvSpPr>
          <p:cNvPr id="30" name="Text 28"/>
          <p:cNvSpPr/>
          <p:nvPr/>
        </p:nvSpPr>
        <p:spPr>
          <a:xfrm>
            <a:off x="5166360" y="2039112"/>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transitive dependency analysis</a:t>
            </a:r>
            <a:endParaRPr lang="en-US" sz="1100" dirty="0"/>
          </a:p>
        </p:txBody>
      </p:sp>
      <p:sp>
        <p:nvSpPr>
          <p:cNvPr id="31" name="Text 29"/>
          <p:cNvSpPr/>
          <p:nvPr/>
        </p:nvSpPr>
        <p:spPr>
          <a:xfrm>
            <a:off x="5166360" y="2313432"/>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Vulnerabilities in indirect (sub) dependencies go undetected</a:t>
            </a:r>
            <a:endParaRPr lang="en-US" sz="950" dirty="0"/>
          </a:p>
        </p:txBody>
      </p:sp>
      <p:sp>
        <p:nvSpPr>
          <p:cNvPr id="32" name="Shape 30"/>
          <p:cNvSpPr/>
          <p:nvPr/>
        </p:nvSpPr>
        <p:spPr>
          <a:xfrm>
            <a:off x="4709160" y="2734056"/>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33" name="Text 31"/>
          <p:cNvSpPr/>
          <p:nvPr/>
        </p:nvSpPr>
        <p:spPr>
          <a:xfrm>
            <a:off x="4800600" y="2734056"/>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8</a:t>
            </a:r>
            <a:endParaRPr lang="en-US" sz="1100" dirty="0"/>
          </a:p>
        </p:txBody>
      </p:sp>
      <p:sp>
        <p:nvSpPr>
          <p:cNvPr id="34" name="Text 32"/>
          <p:cNvSpPr/>
          <p:nvPr/>
        </p:nvSpPr>
        <p:spPr>
          <a:xfrm>
            <a:off x="5166360" y="2788920"/>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dependency hash locking</a:t>
            </a:r>
            <a:endParaRPr lang="en-US" sz="1100" dirty="0"/>
          </a:p>
        </p:txBody>
      </p:sp>
      <p:sp>
        <p:nvSpPr>
          <p:cNvPr id="35" name="Text 33"/>
          <p:cNvSpPr/>
          <p:nvPr/>
        </p:nvSpPr>
        <p:spPr>
          <a:xfrm>
            <a:off x="5166360" y="3063240"/>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Version substitution and supply chain swaps are possible</a:t>
            </a:r>
            <a:endParaRPr lang="en-US" sz="950" dirty="0"/>
          </a:p>
        </p:txBody>
      </p:sp>
      <p:sp>
        <p:nvSpPr>
          <p:cNvPr id="36" name="Shape 34"/>
          <p:cNvSpPr/>
          <p:nvPr/>
        </p:nvSpPr>
        <p:spPr>
          <a:xfrm>
            <a:off x="4709160" y="3483864"/>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37" name="Text 35"/>
          <p:cNvSpPr/>
          <p:nvPr/>
        </p:nvSpPr>
        <p:spPr>
          <a:xfrm>
            <a:off x="4800600" y="3483864"/>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9</a:t>
            </a:r>
            <a:endParaRPr lang="en-US" sz="1100" dirty="0"/>
          </a:p>
        </p:txBody>
      </p:sp>
      <p:sp>
        <p:nvSpPr>
          <p:cNvPr id="38" name="Text 36"/>
          <p:cNvSpPr/>
          <p:nvPr/>
        </p:nvSpPr>
        <p:spPr>
          <a:xfrm>
            <a:off x="5166360" y="3538728"/>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developer remediation alerts</a:t>
            </a:r>
            <a:endParaRPr lang="en-US" sz="1100" dirty="0"/>
          </a:p>
        </p:txBody>
      </p:sp>
      <p:sp>
        <p:nvSpPr>
          <p:cNvPr id="39" name="Text 37"/>
          <p:cNvSpPr/>
          <p:nvPr/>
        </p:nvSpPr>
        <p:spPr>
          <a:xfrm>
            <a:off x="5166360" y="3813048"/>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Dev teams unaware when their dependencies are blocked</a:t>
            </a:r>
            <a:endParaRPr lang="en-US" sz="950" dirty="0"/>
          </a:p>
        </p:txBody>
      </p:sp>
      <p:sp>
        <p:nvSpPr>
          <p:cNvPr id="40" name="Shape 38"/>
          <p:cNvSpPr/>
          <p:nvPr/>
        </p:nvSpPr>
        <p:spPr>
          <a:xfrm>
            <a:off x="4709160" y="4233672"/>
            <a:ext cx="4114800" cy="658368"/>
          </a:xfrm>
          <a:prstGeom prst="roundRect">
            <a:avLst>
              <a:gd name="adj" fmla="val 9722"/>
            </a:avLst>
          </a:prstGeom>
          <a:solidFill>
            <a:srgbClr val="2B0A0A"/>
          </a:solidFill>
          <a:ln w="12700">
            <a:solidFill>
              <a:srgbClr val="5A1A1A"/>
            </a:solidFill>
            <a:prstDash val="solid"/>
          </a:ln>
          <a:effectLst>
            <a:outerShdw sx="100000" sy="100000" kx="0" ky="0" algn="bl" rotWithShape="0" blurRad="76200" dist="25400" dir="8100000">
              <a:srgbClr val="000000">
                <a:alpha val="12000"/>
              </a:srgbClr>
            </a:outerShdw>
          </a:effectLst>
        </p:spPr>
      </p:sp>
      <p:sp>
        <p:nvSpPr>
          <p:cNvPr id="41" name="Text 39"/>
          <p:cNvSpPr/>
          <p:nvPr/>
        </p:nvSpPr>
        <p:spPr>
          <a:xfrm>
            <a:off x="4800600" y="4233672"/>
            <a:ext cx="320040" cy="658368"/>
          </a:xfrm>
          <a:prstGeom prst="rect">
            <a:avLst/>
          </a:prstGeom>
          <a:noFill/>
          <a:ln/>
        </p:spPr>
        <p:txBody>
          <a:bodyPr wrap="square" lIns="0" tIns="0" rIns="0" bIns="0" rtlCol="0" anchor="ctr"/>
          <a:lstStyle/>
          <a:p>
            <a:pPr algn="ctr" indent="0" marL="0">
              <a:buNone/>
            </a:pPr>
            <a:r>
              <a:rPr lang="en-US" sz="1100" b="1" dirty="0">
                <a:solidFill>
                  <a:srgbClr val="E05C5C"/>
                </a:solidFill>
                <a:latin typeface="Calibri" pitchFamily="34" charset="0"/>
                <a:ea typeface="Calibri" pitchFamily="34" charset="-122"/>
                <a:cs typeface="Calibri" pitchFamily="34" charset="-120"/>
              </a:rPr>
              <a:t>10</a:t>
            </a:r>
            <a:endParaRPr lang="en-US" sz="1100" dirty="0"/>
          </a:p>
        </p:txBody>
      </p:sp>
      <p:sp>
        <p:nvSpPr>
          <p:cNvPr id="42" name="Text 40"/>
          <p:cNvSpPr/>
          <p:nvPr/>
        </p:nvSpPr>
        <p:spPr>
          <a:xfrm>
            <a:off x="5166360" y="4288536"/>
            <a:ext cx="3566160" cy="256032"/>
          </a:xfrm>
          <a:prstGeom prst="rect">
            <a:avLst/>
          </a:prstGeom>
          <a:noFill/>
          <a:ln/>
        </p:spPr>
        <p:txBody>
          <a:bodyPr wrap="square" lIns="0" tIns="0" rIns="0" bIns="0" rtlCol="0" anchor="ctr"/>
          <a:lstStyle/>
          <a:p>
            <a:pPr indent="0" marL="0">
              <a:buNone/>
            </a:pPr>
            <a:r>
              <a:rPr lang="en-US" sz="1100" b="1" dirty="0">
                <a:solidFill>
                  <a:srgbClr val="E8C0C0"/>
                </a:solidFill>
                <a:latin typeface="Calibri" pitchFamily="34" charset="0"/>
                <a:ea typeface="Calibri" pitchFamily="34" charset="-122"/>
                <a:cs typeface="Calibri" pitchFamily="34" charset="-120"/>
              </a:rPr>
              <a:t>No lifecycle governance</a:t>
            </a:r>
            <a:endParaRPr lang="en-US" sz="1100" dirty="0"/>
          </a:p>
        </p:txBody>
      </p:sp>
      <p:sp>
        <p:nvSpPr>
          <p:cNvPr id="43" name="Text 41"/>
          <p:cNvSpPr/>
          <p:nvPr/>
        </p:nvSpPr>
        <p:spPr>
          <a:xfrm>
            <a:off x="5166360" y="4562856"/>
            <a:ext cx="3566160" cy="256032"/>
          </a:xfrm>
          <a:prstGeom prst="rect">
            <a:avLst/>
          </a:prstGeom>
          <a:noFill/>
          <a:ln/>
        </p:spPr>
        <p:txBody>
          <a:bodyPr wrap="square" lIns="0" tIns="0" rIns="0" bIns="0" rtlCol="0" anchor="ctr"/>
          <a:lstStyle/>
          <a:p>
            <a:pPr indent="0" marL="0">
              <a:buNone/>
            </a:pPr>
            <a:r>
              <a:rPr lang="en-US" sz="950" dirty="0">
                <a:solidFill>
                  <a:srgbClr val="8AAAC0"/>
                </a:solidFill>
                <a:latin typeface="Calibri" pitchFamily="34" charset="0"/>
                <a:ea typeface="Calibri" pitchFamily="34" charset="-122"/>
                <a:cs typeface="Calibri" pitchFamily="34" charset="-120"/>
              </a:rPr>
              <a:t>Aging, unmaintained dependencies accumulate unmanaged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04  /  INDUSTRY BENCHMARK</a:t>
            </a:r>
            <a:endParaRPr lang="en-US" sz="900" dirty="0"/>
          </a:p>
        </p:txBody>
      </p:sp>
      <p:sp>
        <p:nvSpPr>
          <p:cNvPr id="3" name="Text 1"/>
          <p:cNvSpPr/>
          <p:nvPr/>
        </p:nvSpPr>
        <p:spPr>
          <a:xfrm>
            <a:off x="548640" y="457200"/>
            <a:ext cx="5486400" cy="914400"/>
          </a:xfrm>
          <a:prstGeom prst="rect">
            <a:avLst/>
          </a:prstGeom>
          <a:noFill/>
          <a:ln/>
        </p:spPr>
        <p:txBody>
          <a:bodyPr wrap="square" lIns="0" tIns="0" rIns="0" bIns="0" rtlCol="0" anchor="ctr"/>
          <a:lstStyle/>
          <a:p>
            <a:pPr indent="0" marL="0">
              <a:buNone/>
            </a:pPr>
            <a:r>
              <a:rPr lang="en-US" sz="2800" b="1" dirty="0">
                <a:solidFill>
                  <a:srgbClr val="0D1E3A"/>
                </a:solidFill>
                <a:latin typeface="Calibri" pitchFamily="34" charset="0"/>
                <a:ea typeface="Calibri" pitchFamily="34" charset="-122"/>
                <a:cs typeface="Calibri" pitchFamily="34" charset="-120"/>
              </a:rPr>
              <a:t>Where NFCU Stands on the SLSA</a:t>
            </a:r>
            <a:endParaRPr lang="en-US" sz="2800" dirty="0"/>
          </a:p>
          <a:p>
            <a:pPr indent="0" marL="0">
              <a:buNone/>
            </a:pPr>
            <a:r>
              <a:rPr lang="en-US" sz="2800" b="1" dirty="0">
                <a:solidFill>
                  <a:srgbClr val="0D1E3A"/>
                </a:solidFill>
                <a:latin typeface="Calibri" pitchFamily="34" charset="0"/>
                <a:ea typeface="Calibri" pitchFamily="34" charset="-122"/>
                <a:cs typeface="Calibri" pitchFamily="34" charset="-120"/>
              </a:rPr>
              <a:t>Maturity Framework</a:t>
            </a:r>
            <a:endParaRPr lang="en-US" sz="2800" dirty="0"/>
          </a:p>
        </p:txBody>
      </p:sp>
      <p:sp>
        <p:nvSpPr>
          <p:cNvPr id="4" name="Text 2"/>
          <p:cNvSpPr/>
          <p:nvPr/>
        </p:nvSpPr>
        <p:spPr>
          <a:xfrm>
            <a:off x="548640" y="1389888"/>
            <a:ext cx="502920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SLSA (Supply-chain Levels for Software Artifacts) is the</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industry standard for measuring supply chain security maturity.</a:t>
            </a:r>
            <a:endParaRPr lang="en-US" sz="1200" dirty="0"/>
          </a:p>
        </p:txBody>
      </p:sp>
      <p:sp>
        <p:nvSpPr>
          <p:cNvPr id="5" name="Shape 3"/>
          <p:cNvSpPr/>
          <p:nvPr/>
        </p:nvSpPr>
        <p:spPr>
          <a:xfrm>
            <a:off x="5943600" y="457200"/>
            <a:ext cx="2743200" cy="1463040"/>
          </a:xfrm>
          <a:prstGeom prst="roundRect">
            <a:avLst>
              <a:gd name="adj" fmla="val 7500"/>
            </a:avLst>
          </a:prstGeom>
          <a:solidFill>
            <a:srgbClr val="2B0A0A"/>
          </a:solidFill>
          <a:ln w="25400">
            <a:solidFill>
              <a:srgbClr val="E05C5C"/>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5943600" y="548640"/>
            <a:ext cx="2743200" cy="320040"/>
          </a:xfrm>
          <a:prstGeom prst="rect">
            <a:avLst/>
          </a:prstGeom>
          <a:noFill/>
          <a:ln/>
        </p:spPr>
        <p:txBody>
          <a:bodyPr wrap="square" lIns="0" tIns="0" rIns="0" bIns="0" rtlCol="0" anchor="ctr"/>
          <a:lstStyle/>
          <a:p>
            <a:pPr algn="ctr" indent="0" marL="0">
              <a:buNone/>
            </a:pPr>
            <a:r>
              <a:rPr lang="en-US" sz="1000" dirty="0">
                <a:solidFill>
                  <a:srgbClr val="8AAAC0"/>
                </a:solidFill>
                <a:latin typeface="Calibri" pitchFamily="34" charset="0"/>
                <a:ea typeface="Calibri" pitchFamily="34" charset="-122"/>
                <a:cs typeface="Calibri" pitchFamily="34" charset="-120"/>
              </a:rPr>
              <a:t>Current Level</a:t>
            </a:r>
            <a:endParaRPr lang="en-US" sz="1000" dirty="0"/>
          </a:p>
        </p:txBody>
      </p:sp>
      <p:sp>
        <p:nvSpPr>
          <p:cNvPr id="7" name="Text 5"/>
          <p:cNvSpPr/>
          <p:nvPr/>
        </p:nvSpPr>
        <p:spPr>
          <a:xfrm>
            <a:off x="5943600" y="822960"/>
            <a:ext cx="2743200" cy="640080"/>
          </a:xfrm>
          <a:prstGeom prst="rect">
            <a:avLst/>
          </a:prstGeom>
          <a:noFill/>
          <a:ln/>
        </p:spPr>
        <p:txBody>
          <a:bodyPr wrap="square" lIns="0" tIns="0" rIns="0" bIns="0" rtlCol="0" anchor="ctr"/>
          <a:lstStyle/>
          <a:p>
            <a:pPr algn="ctr" indent="0" marL="0">
              <a:buNone/>
            </a:pPr>
            <a:r>
              <a:rPr lang="en-US" sz="4400" b="1" dirty="0">
                <a:solidFill>
                  <a:srgbClr val="E05C5C"/>
                </a:solidFill>
                <a:latin typeface="Calibri" pitchFamily="34" charset="0"/>
                <a:ea typeface="Calibri" pitchFamily="34" charset="-122"/>
                <a:cs typeface="Calibri" pitchFamily="34" charset="-120"/>
              </a:rPr>
              <a:t>L0</a:t>
            </a:r>
            <a:endParaRPr lang="en-US" sz="4400" dirty="0"/>
          </a:p>
        </p:txBody>
      </p:sp>
      <p:sp>
        <p:nvSpPr>
          <p:cNvPr id="8" name="Text 6"/>
          <p:cNvSpPr/>
          <p:nvPr/>
        </p:nvSpPr>
        <p:spPr>
          <a:xfrm>
            <a:off x="5943600" y="1463040"/>
            <a:ext cx="2743200" cy="320040"/>
          </a:xfrm>
          <a:prstGeom prst="rect">
            <a:avLst/>
          </a:prstGeom>
          <a:noFill/>
          <a:ln/>
        </p:spPr>
        <p:txBody>
          <a:bodyPr wrap="square" lIns="0" tIns="0" rIns="0" bIns="0" rtlCol="0" anchor="ctr"/>
          <a:lstStyle/>
          <a:p>
            <a:pPr algn="ctr" indent="0" marL="0">
              <a:buNone/>
            </a:pPr>
            <a:r>
              <a:rPr lang="en-US" sz="1000" dirty="0">
                <a:solidFill>
                  <a:srgbClr val="E05C5C"/>
                </a:solidFill>
                <a:latin typeface="Calibri" pitchFamily="34" charset="0"/>
                <a:ea typeface="Calibri" pitchFamily="34" charset="-122"/>
                <a:cs typeface="Calibri" pitchFamily="34" charset="-120"/>
              </a:rPr>
              <a:t>Approaching L1</a:t>
            </a:r>
            <a:endParaRPr lang="en-US" sz="1000" dirty="0"/>
          </a:p>
        </p:txBody>
      </p:sp>
      <p:sp>
        <p:nvSpPr>
          <p:cNvPr id="9" name="Shape 7"/>
          <p:cNvSpPr/>
          <p:nvPr/>
        </p:nvSpPr>
        <p:spPr>
          <a:xfrm>
            <a:off x="320040" y="2084832"/>
            <a:ext cx="2697480" cy="2788920"/>
          </a:xfrm>
          <a:prstGeom prst="roundRect">
            <a:avLst>
              <a:gd name="adj" fmla="val 3390"/>
            </a:avLst>
          </a:prstGeom>
          <a:solidFill>
            <a:srgbClr val="EBF9F0"/>
          </a:solidFill>
          <a:ln w="12700">
            <a:solidFill>
              <a:srgbClr val="A3D9B8"/>
            </a:solidFill>
            <a:prstDash val="solid"/>
          </a:ln>
          <a:effectLst>
            <a:outerShdw sx="100000" sy="100000" kx="0" ky="0" algn="bl" rotWithShape="0" blurRad="76200" dist="25400" dir="8100000">
              <a:srgbClr val="000000">
                <a:alpha val="12000"/>
              </a:srgbClr>
            </a:outerShdw>
          </a:effectLst>
        </p:spPr>
      </p:sp>
      <p:sp>
        <p:nvSpPr>
          <p:cNvPr id="10" name="Shape 8"/>
          <p:cNvSpPr/>
          <p:nvPr/>
        </p:nvSpPr>
        <p:spPr>
          <a:xfrm>
            <a:off x="411480" y="2157984"/>
            <a:ext cx="594360" cy="320040"/>
          </a:xfrm>
          <a:prstGeom prst="roundRect">
            <a:avLst>
              <a:gd name="adj" fmla="val 14286"/>
            </a:avLst>
          </a:prstGeom>
          <a:solidFill>
            <a:srgbClr val="1A7A40"/>
          </a:solidFill>
          <a:ln w="12700">
            <a:solidFill>
              <a:srgbClr val="1A7A40"/>
            </a:solidFill>
            <a:prstDash val="solid"/>
          </a:ln>
        </p:spPr>
      </p:sp>
      <p:sp>
        <p:nvSpPr>
          <p:cNvPr id="11" name="Text 9"/>
          <p:cNvSpPr/>
          <p:nvPr/>
        </p:nvSpPr>
        <p:spPr>
          <a:xfrm>
            <a:off x="411480" y="2157984"/>
            <a:ext cx="5943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L1</a:t>
            </a:r>
            <a:endParaRPr lang="en-US" sz="1300" dirty="0"/>
          </a:p>
        </p:txBody>
      </p:sp>
      <p:sp>
        <p:nvSpPr>
          <p:cNvPr id="12" name="Text 10"/>
          <p:cNvSpPr/>
          <p:nvPr/>
        </p:nvSpPr>
        <p:spPr>
          <a:xfrm>
            <a:off x="1097280" y="2176272"/>
            <a:ext cx="1828800" cy="292608"/>
          </a:xfrm>
          <a:prstGeom prst="rect">
            <a:avLst/>
          </a:prstGeom>
          <a:noFill/>
          <a:ln/>
        </p:spPr>
        <p:txBody>
          <a:bodyPr wrap="square" lIns="0" tIns="0" rIns="0" bIns="0" rtlCol="0" anchor="ctr"/>
          <a:lstStyle/>
          <a:p>
            <a:pPr indent="0" marL="0">
              <a:buNone/>
            </a:pPr>
            <a:r>
              <a:rPr lang="en-US" sz="1200" b="1" dirty="0">
                <a:solidFill>
                  <a:srgbClr val="0D1E3A"/>
                </a:solidFill>
                <a:latin typeface="Calibri" pitchFamily="34" charset="0"/>
                <a:ea typeface="Calibri" pitchFamily="34" charset="-122"/>
                <a:cs typeface="Calibri" pitchFamily="34" charset="-120"/>
              </a:rPr>
              <a:t>Provenance Exists</a:t>
            </a:r>
            <a:endParaRPr lang="en-US" sz="1200" dirty="0"/>
          </a:p>
        </p:txBody>
      </p:sp>
      <p:sp>
        <p:nvSpPr>
          <p:cNvPr id="13" name="Text 11"/>
          <p:cNvSpPr/>
          <p:nvPr/>
        </p:nvSpPr>
        <p:spPr>
          <a:xfrm>
            <a:off x="411480" y="2523744"/>
            <a:ext cx="2468880" cy="22860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Partial</a:t>
            </a:r>
            <a:endParaRPr lang="en-US" sz="1000" dirty="0"/>
          </a:p>
        </p:txBody>
      </p:sp>
      <p:sp>
        <p:nvSpPr>
          <p:cNvPr id="14" name="Text 12"/>
          <p:cNvSpPr/>
          <p:nvPr/>
        </p:nvSpPr>
        <p:spPr>
          <a:xfrm>
            <a:off x="411480" y="2816352"/>
            <a:ext cx="2468880" cy="201168"/>
          </a:xfrm>
          <a:prstGeom prst="rect">
            <a:avLst/>
          </a:prstGeom>
          <a:noFill/>
          <a:ln/>
        </p:spPr>
        <p:txBody>
          <a:bodyPr wrap="square" lIns="0" tIns="0" rIns="0" bIns="0" rtlCol="0" anchor="ctr"/>
          <a:lstStyle/>
          <a:p>
            <a:pPr indent="0" marL="0">
              <a:buNone/>
            </a:pPr>
            <a:r>
              <a:rPr lang="en-US" sz="800" spc="100" kern="0" dirty="0">
                <a:solidFill>
                  <a:srgbClr val="64748B"/>
                </a:solidFill>
                <a:latin typeface="Calibri" pitchFamily="34" charset="0"/>
                <a:ea typeface="Calibri" pitchFamily="34" charset="-122"/>
                <a:cs typeface="Calibri" pitchFamily="34" charset="-120"/>
              </a:rPr>
              <a:t>TO REACH THIS LEVEL:</a:t>
            </a:r>
            <a:endParaRPr lang="en-US" sz="800" dirty="0"/>
          </a:p>
        </p:txBody>
      </p:sp>
      <p:sp>
        <p:nvSpPr>
          <p:cNvPr id="15" name="Text 13"/>
          <p:cNvSpPr/>
          <p:nvPr/>
        </p:nvSpPr>
        <p:spPr>
          <a:xfrm>
            <a:off x="411480" y="3017520"/>
            <a:ext cx="2468880" cy="3657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SBOM generation at ingestion</a:t>
            </a:r>
            <a:endParaRPr lang="en-US" sz="1000" dirty="0"/>
          </a:p>
        </p:txBody>
      </p:sp>
      <p:sp>
        <p:nvSpPr>
          <p:cNvPr id="16" name="Text 14"/>
          <p:cNvSpPr/>
          <p:nvPr/>
        </p:nvSpPr>
        <p:spPr>
          <a:xfrm>
            <a:off x="411480" y="3419856"/>
            <a:ext cx="2468880" cy="3657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Provenance records generated</a:t>
            </a:r>
            <a:endParaRPr lang="en-US" sz="1000" dirty="0"/>
          </a:p>
        </p:txBody>
      </p:sp>
      <p:sp>
        <p:nvSpPr>
          <p:cNvPr id="17" name="Text 15"/>
          <p:cNvSpPr/>
          <p:nvPr/>
        </p:nvSpPr>
        <p:spPr>
          <a:xfrm>
            <a:off x="411480" y="3822192"/>
            <a:ext cx="2468880" cy="3657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Expand Xray to High/Med CVEs</a:t>
            </a:r>
            <a:endParaRPr lang="en-US" sz="1000" dirty="0"/>
          </a:p>
        </p:txBody>
      </p:sp>
      <p:sp>
        <p:nvSpPr>
          <p:cNvPr id="18" name="Shape 16"/>
          <p:cNvSpPr/>
          <p:nvPr/>
        </p:nvSpPr>
        <p:spPr>
          <a:xfrm>
            <a:off x="3182112" y="2084832"/>
            <a:ext cx="2697480" cy="2788920"/>
          </a:xfrm>
          <a:prstGeom prst="roundRect">
            <a:avLst>
              <a:gd name="adj" fmla="val 3390"/>
            </a:avLst>
          </a:prstGeom>
          <a:solidFill>
            <a:srgbClr val="FFF8EC"/>
          </a:solidFill>
          <a:ln w="12700">
            <a:solidFill>
              <a:srgbClr val="F5C97A"/>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3273552" y="2157984"/>
            <a:ext cx="594360" cy="320040"/>
          </a:xfrm>
          <a:prstGeom prst="roundRect">
            <a:avLst>
              <a:gd name="adj" fmla="val 14286"/>
            </a:avLst>
          </a:prstGeom>
          <a:solidFill>
            <a:srgbClr val="D4860A"/>
          </a:solidFill>
          <a:ln w="12700">
            <a:solidFill>
              <a:srgbClr val="D4860A"/>
            </a:solidFill>
            <a:prstDash val="solid"/>
          </a:ln>
        </p:spPr>
      </p:sp>
      <p:sp>
        <p:nvSpPr>
          <p:cNvPr id="20" name="Text 18"/>
          <p:cNvSpPr/>
          <p:nvPr/>
        </p:nvSpPr>
        <p:spPr>
          <a:xfrm>
            <a:off x="3273552" y="2157984"/>
            <a:ext cx="5943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L2</a:t>
            </a:r>
            <a:endParaRPr lang="en-US" sz="1300" dirty="0"/>
          </a:p>
        </p:txBody>
      </p:sp>
      <p:sp>
        <p:nvSpPr>
          <p:cNvPr id="21" name="Text 19"/>
          <p:cNvSpPr/>
          <p:nvPr/>
        </p:nvSpPr>
        <p:spPr>
          <a:xfrm>
            <a:off x="3959352" y="2176272"/>
            <a:ext cx="1828800" cy="292608"/>
          </a:xfrm>
          <a:prstGeom prst="rect">
            <a:avLst/>
          </a:prstGeom>
          <a:noFill/>
          <a:ln/>
        </p:spPr>
        <p:txBody>
          <a:bodyPr wrap="square" lIns="0" tIns="0" rIns="0" bIns="0" rtlCol="0" anchor="ctr"/>
          <a:lstStyle/>
          <a:p>
            <a:pPr indent="0" marL="0">
              <a:buNone/>
            </a:pPr>
            <a:r>
              <a:rPr lang="en-US" sz="1200" b="1" dirty="0">
                <a:solidFill>
                  <a:srgbClr val="0D1E3A"/>
                </a:solidFill>
                <a:latin typeface="Calibri" pitchFamily="34" charset="0"/>
                <a:ea typeface="Calibri" pitchFamily="34" charset="-122"/>
                <a:cs typeface="Calibri" pitchFamily="34" charset="-120"/>
              </a:rPr>
              <a:t>Signed Provenance</a:t>
            </a:r>
            <a:endParaRPr lang="en-US" sz="1200" dirty="0"/>
          </a:p>
        </p:txBody>
      </p:sp>
      <p:sp>
        <p:nvSpPr>
          <p:cNvPr id="22" name="Text 20"/>
          <p:cNvSpPr/>
          <p:nvPr/>
        </p:nvSpPr>
        <p:spPr>
          <a:xfrm>
            <a:off x="3273552" y="2523744"/>
            <a:ext cx="2468880" cy="228600"/>
          </a:xfrm>
          <a:prstGeom prst="rect">
            <a:avLst/>
          </a:prstGeom>
          <a:noFill/>
          <a:ln/>
        </p:spPr>
        <p:txBody>
          <a:bodyPr wrap="square" lIns="0" tIns="0" rIns="0" bIns="0" rtlCol="0" anchor="ctr"/>
          <a:lstStyle/>
          <a:p>
            <a:pPr indent="0" marL="0">
              <a:buNone/>
            </a:pPr>
            <a:r>
              <a:rPr lang="en-US" sz="1000" b="1" dirty="0">
                <a:solidFill>
                  <a:srgbClr val="E05C5C"/>
                </a:solidFill>
                <a:latin typeface="Calibri" pitchFamily="34" charset="0"/>
                <a:ea typeface="Calibri" pitchFamily="34" charset="-122"/>
                <a:cs typeface="Calibri" pitchFamily="34" charset="-120"/>
              </a:rPr>
              <a:t>Not Met</a:t>
            </a:r>
            <a:endParaRPr lang="en-US" sz="1000" dirty="0"/>
          </a:p>
        </p:txBody>
      </p:sp>
      <p:sp>
        <p:nvSpPr>
          <p:cNvPr id="23" name="Text 21"/>
          <p:cNvSpPr/>
          <p:nvPr/>
        </p:nvSpPr>
        <p:spPr>
          <a:xfrm>
            <a:off x="3273552" y="2816352"/>
            <a:ext cx="2468880" cy="201168"/>
          </a:xfrm>
          <a:prstGeom prst="rect">
            <a:avLst/>
          </a:prstGeom>
          <a:noFill/>
          <a:ln/>
        </p:spPr>
        <p:txBody>
          <a:bodyPr wrap="square" lIns="0" tIns="0" rIns="0" bIns="0" rtlCol="0" anchor="ctr"/>
          <a:lstStyle/>
          <a:p>
            <a:pPr indent="0" marL="0">
              <a:buNone/>
            </a:pPr>
            <a:r>
              <a:rPr lang="en-US" sz="800" spc="100" kern="0" dirty="0">
                <a:solidFill>
                  <a:srgbClr val="64748B"/>
                </a:solidFill>
                <a:latin typeface="Calibri" pitchFamily="34" charset="0"/>
                <a:ea typeface="Calibri" pitchFamily="34" charset="-122"/>
                <a:cs typeface="Calibri" pitchFamily="34" charset="-120"/>
              </a:rPr>
              <a:t>TO REACH THIS LEVEL:</a:t>
            </a:r>
            <a:endParaRPr lang="en-US" sz="800" dirty="0"/>
          </a:p>
        </p:txBody>
      </p:sp>
      <p:sp>
        <p:nvSpPr>
          <p:cNvPr id="24" name="Text 22"/>
          <p:cNvSpPr/>
          <p:nvPr/>
        </p:nvSpPr>
        <p:spPr>
          <a:xfrm>
            <a:off x="3273552" y="3017520"/>
            <a:ext cx="2468880" cy="3657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Dependency hash locking</a:t>
            </a:r>
            <a:endParaRPr lang="en-US" sz="1000" dirty="0"/>
          </a:p>
        </p:txBody>
      </p:sp>
      <p:sp>
        <p:nvSpPr>
          <p:cNvPr id="25" name="Text 23"/>
          <p:cNvSpPr/>
          <p:nvPr/>
        </p:nvSpPr>
        <p:spPr>
          <a:xfrm>
            <a:off x="3273552" y="3419856"/>
            <a:ext cx="2468880" cy="3657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Signed SLSA attestation</a:t>
            </a:r>
            <a:endParaRPr lang="en-US" sz="1000" dirty="0"/>
          </a:p>
        </p:txBody>
      </p:sp>
      <p:sp>
        <p:nvSpPr>
          <p:cNvPr id="26" name="Text 24"/>
          <p:cNvSpPr/>
          <p:nvPr/>
        </p:nvSpPr>
        <p:spPr>
          <a:xfrm>
            <a:off x="3273552" y="3822192"/>
            <a:ext cx="2468880" cy="3657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Policy enforcement gate</a:t>
            </a:r>
            <a:endParaRPr lang="en-US" sz="1000" dirty="0"/>
          </a:p>
        </p:txBody>
      </p:sp>
      <p:sp>
        <p:nvSpPr>
          <p:cNvPr id="27" name="Text 25"/>
          <p:cNvSpPr/>
          <p:nvPr/>
        </p:nvSpPr>
        <p:spPr>
          <a:xfrm>
            <a:off x="3273552" y="4224528"/>
            <a:ext cx="2468880" cy="3657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License/signature enforcement</a:t>
            </a:r>
            <a:endParaRPr lang="en-US" sz="1000" dirty="0"/>
          </a:p>
        </p:txBody>
      </p:sp>
      <p:sp>
        <p:nvSpPr>
          <p:cNvPr id="28" name="Shape 26"/>
          <p:cNvSpPr/>
          <p:nvPr/>
        </p:nvSpPr>
        <p:spPr>
          <a:xfrm>
            <a:off x="6044184" y="2084832"/>
            <a:ext cx="2697480" cy="2788920"/>
          </a:xfrm>
          <a:prstGeom prst="roundRect">
            <a:avLst>
              <a:gd name="adj" fmla="val 3390"/>
            </a:avLst>
          </a:prstGeom>
          <a:solidFill>
            <a:srgbClr val="EBF3FF"/>
          </a:solidFill>
          <a:ln w="12700">
            <a:solidFill>
              <a:srgbClr val="90BEF5"/>
            </a:solidFill>
            <a:prstDash val="solid"/>
          </a:ln>
          <a:effectLst>
            <a:outerShdw sx="100000" sy="100000" kx="0" ky="0" algn="bl" rotWithShape="0" blurRad="76200" dist="25400" dir="8100000">
              <a:srgbClr val="000000">
                <a:alpha val="12000"/>
              </a:srgbClr>
            </a:outerShdw>
          </a:effectLst>
        </p:spPr>
      </p:sp>
      <p:sp>
        <p:nvSpPr>
          <p:cNvPr id="29" name="Shape 27"/>
          <p:cNvSpPr/>
          <p:nvPr/>
        </p:nvSpPr>
        <p:spPr>
          <a:xfrm>
            <a:off x="6135624" y="2157984"/>
            <a:ext cx="594360" cy="320040"/>
          </a:xfrm>
          <a:prstGeom prst="roundRect">
            <a:avLst>
              <a:gd name="adj" fmla="val 14286"/>
            </a:avLst>
          </a:prstGeom>
          <a:solidFill>
            <a:srgbClr val="1565C0"/>
          </a:solidFill>
          <a:ln w="12700">
            <a:solidFill>
              <a:srgbClr val="1565C0"/>
            </a:solidFill>
            <a:prstDash val="solid"/>
          </a:ln>
        </p:spPr>
      </p:sp>
      <p:sp>
        <p:nvSpPr>
          <p:cNvPr id="30" name="Text 28"/>
          <p:cNvSpPr/>
          <p:nvPr/>
        </p:nvSpPr>
        <p:spPr>
          <a:xfrm>
            <a:off x="6135624" y="2157984"/>
            <a:ext cx="5943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L3</a:t>
            </a:r>
            <a:endParaRPr lang="en-US" sz="1300" dirty="0"/>
          </a:p>
        </p:txBody>
      </p:sp>
      <p:sp>
        <p:nvSpPr>
          <p:cNvPr id="31" name="Text 29"/>
          <p:cNvSpPr/>
          <p:nvPr/>
        </p:nvSpPr>
        <p:spPr>
          <a:xfrm>
            <a:off x="6821424" y="2176272"/>
            <a:ext cx="1828800" cy="292608"/>
          </a:xfrm>
          <a:prstGeom prst="rect">
            <a:avLst/>
          </a:prstGeom>
          <a:noFill/>
          <a:ln/>
        </p:spPr>
        <p:txBody>
          <a:bodyPr wrap="square" lIns="0" tIns="0" rIns="0" bIns="0" rtlCol="0" anchor="ctr"/>
          <a:lstStyle/>
          <a:p>
            <a:pPr indent="0" marL="0">
              <a:buNone/>
            </a:pPr>
            <a:r>
              <a:rPr lang="en-US" sz="1200" b="1" dirty="0">
                <a:solidFill>
                  <a:srgbClr val="0D1E3A"/>
                </a:solidFill>
                <a:latin typeface="Calibri" pitchFamily="34" charset="0"/>
                <a:ea typeface="Calibri" pitchFamily="34" charset="-122"/>
                <a:cs typeface="Calibri" pitchFamily="34" charset="-120"/>
              </a:rPr>
              <a:t>Hardened Platform</a:t>
            </a:r>
            <a:endParaRPr lang="en-US" sz="1200" dirty="0"/>
          </a:p>
        </p:txBody>
      </p:sp>
      <p:sp>
        <p:nvSpPr>
          <p:cNvPr id="32" name="Text 30"/>
          <p:cNvSpPr/>
          <p:nvPr/>
        </p:nvSpPr>
        <p:spPr>
          <a:xfrm>
            <a:off x="6135624" y="2523744"/>
            <a:ext cx="2468880" cy="228600"/>
          </a:xfrm>
          <a:prstGeom prst="rect">
            <a:avLst/>
          </a:prstGeom>
          <a:noFill/>
          <a:ln/>
        </p:spPr>
        <p:txBody>
          <a:bodyPr wrap="square" lIns="0" tIns="0" rIns="0" bIns="0" rtlCol="0" anchor="ctr"/>
          <a:lstStyle/>
          <a:p>
            <a:pPr indent="0" marL="0">
              <a:buNone/>
            </a:pPr>
            <a:r>
              <a:rPr lang="en-US" sz="1000" b="1" dirty="0">
                <a:solidFill>
                  <a:srgbClr val="E05C5C"/>
                </a:solidFill>
                <a:latin typeface="Calibri" pitchFamily="34" charset="0"/>
                <a:ea typeface="Calibri" pitchFamily="34" charset="-122"/>
                <a:cs typeface="Calibri" pitchFamily="34" charset="-120"/>
              </a:rPr>
              <a:t>Not Met</a:t>
            </a:r>
            <a:endParaRPr lang="en-US" sz="1000" dirty="0"/>
          </a:p>
        </p:txBody>
      </p:sp>
      <p:sp>
        <p:nvSpPr>
          <p:cNvPr id="33" name="Text 31"/>
          <p:cNvSpPr/>
          <p:nvPr/>
        </p:nvSpPr>
        <p:spPr>
          <a:xfrm>
            <a:off x="6135624" y="2816352"/>
            <a:ext cx="2468880" cy="201168"/>
          </a:xfrm>
          <a:prstGeom prst="rect">
            <a:avLst/>
          </a:prstGeom>
          <a:noFill/>
          <a:ln/>
        </p:spPr>
        <p:txBody>
          <a:bodyPr wrap="square" lIns="0" tIns="0" rIns="0" bIns="0" rtlCol="0" anchor="ctr"/>
          <a:lstStyle/>
          <a:p>
            <a:pPr indent="0" marL="0">
              <a:buNone/>
            </a:pPr>
            <a:r>
              <a:rPr lang="en-US" sz="800" spc="100" kern="0" dirty="0">
                <a:solidFill>
                  <a:srgbClr val="64748B"/>
                </a:solidFill>
                <a:latin typeface="Calibri" pitchFamily="34" charset="0"/>
                <a:ea typeface="Calibri" pitchFamily="34" charset="-122"/>
                <a:cs typeface="Calibri" pitchFamily="34" charset="-120"/>
              </a:rPr>
              <a:t>TO REACH THIS LEVEL:</a:t>
            </a:r>
            <a:endParaRPr lang="en-US" sz="800" dirty="0"/>
          </a:p>
        </p:txBody>
      </p:sp>
      <p:sp>
        <p:nvSpPr>
          <p:cNvPr id="34" name="Text 32"/>
          <p:cNvSpPr/>
          <p:nvPr/>
        </p:nvSpPr>
        <p:spPr>
          <a:xfrm>
            <a:off x="6135624" y="3017520"/>
            <a:ext cx="2468880" cy="3657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Provenance verification</a:t>
            </a:r>
            <a:endParaRPr lang="en-US" sz="1000" dirty="0"/>
          </a:p>
        </p:txBody>
      </p:sp>
      <p:sp>
        <p:nvSpPr>
          <p:cNvPr id="35" name="Text 33"/>
          <p:cNvSpPr/>
          <p:nvPr/>
        </p:nvSpPr>
        <p:spPr>
          <a:xfrm>
            <a:off x="6135624" y="3419856"/>
            <a:ext cx="2468880" cy="3657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Transitive dep analysis</a:t>
            </a:r>
            <a:endParaRPr lang="en-US" sz="1000" dirty="0"/>
          </a:p>
        </p:txBody>
      </p:sp>
      <p:sp>
        <p:nvSpPr>
          <p:cNvPr id="36" name="Text 34"/>
          <p:cNvSpPr/>
          <p:nvPr/>
        </p:nvSpPr>
        <p:spPr>
          <a:xfrm>
            <a:off x="6135624" y="3822192"/>
            <a:ext cx="2468880" cy="3657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Continuous re-scanning</a:t>
            </a:r>
            <a:endParaRPr lang="en-US" sz="1000" dirty="0"/>
          </a:p>
        </p:txBody>
      </p:sp>
      <p:sp>
        <p:nvSpPr>
          <p:cNvPr id="37" name="Text 35"/>
          <p:cNvSpPr/>
          <p:nvPr/>
        </p:nvSpPr>
        <p:spPr>
          <a:xfrm>
            <a:off x="6135624" y="4224528"/>
            <a:ext cx="2468880" cy="3657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Mandate Artifactory for all teams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E3A"/>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8AAAC0"/>
                </a:solidFill>
                <a:latin typeface="Calibri" pitchFamily="34" charset="0"/>
                <a:ea typeface="Calibri" pitchFamily="34" charset="-122"/>
                <a:cs typeface="Calibri" pitchFamily="34" charset="-120"/>
              </a:rPr>
              <a:t>05  /  THE ROADMAP</a:t>
            </a:r>
            <a:endParaRPr lang="en-US" sz="9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Quick Wins vs. New Builds</a:t>
            </a:r>
            <a:endParaRPr lang="en-US" sz="3000" dirty="0"/>
          </a:p>
        </p:txBody>
      </p:sp>
      <p:sp>
        <p:nvSpPr>
          <p:cNvPr id="4" name="Text 2"/>
          <p:cNvSpPr/>
          <p:nvPr/>
        </p:nvSpPr>
        <p:spPr>
          <a:xfrm>
            <a:off x="548640" y="1005840"/>
            <a:ext cx="8046720" cy="320040"/>
          </a:xfrm>
          <a:prstGeom prst="rect">
            <a:avLst/>
          </a:prstGeom>
          <a:noFill/>
          <a:ln/>
        </p:spPr>
        <p:txBody>
          <a:bodyPr wrap="square" lIns="0" tIns="0" rIns="0" bIns="0" rtlCol="0" anchor="ctr"/>
          <a:lstStyle/>
          <a:p>
            <a:pPr indent="0" marL="0">
              <a:buNone/>
            </a:pPr>
            <a:r>
              <a:rPr lang="en-US" sz="1200" dirty="0">
                <a:solidFill>
                  <a:srgbClr val="8AAAC0"/>
                </a:solidFill>
                <a:latin typeface="Calibri" pitchFamily="34" charset="0"/>
                <a:ea typeface="Calibri" pitchFamily="34" charset="-122"/>
                <a:cs typeface="Calibri" pitchFamily="34" charset="-120"/>
              </a:rPr>
              <a:t>Not all gaps are equal. Several are policy changes on tools we already own — others require net-new capability.</a:t>
            </a:r>
            <a:endParaRPr lang="en-US" sz="1200" dirty="0"/>
          </a:p>
        </p:txBody>
      </p:sp>
      <p:sp>
        <p:nvSpPr>
          <p:cNvPr id="5" name="Shape 3"/>
          <p:cNvSpPr/>
          <p:nvPr/>
        </p:nvSpPr>
        <p:spPr>
          <a:xfrm>
            <a:off x="320040" y="1463040"/>
            <a:ext cx="4023360" cy="502920"/>
          </a:xfrm>
          <a:prstGeom prst="roundRect">
            <a:avLst>
              <a:gd name="adj" fmla="val 14545"/>
            </a:avLst>
          </a:prstGeom>
          <a:solidFill>
            <a:srgbClr val="1A7A40"/>
          </a:solidFill>
          <a:ln w="12700">
            <a:solidFill>
              <a:srgbClr val="1A7A40"/>
            </a:solidFill>
            <a:prstDash val="solid"/>
          </a:ln>
        </p:spPr>
      </p:sp>
      <p:sp>
        <p:nvSpPr>
          <p:cNvPr id="6" name="Text 4"/>
          <p:cNvSpPr/>
          <p:nvPr/>
        </p:nvSpPr>
        <p:spPr>
          <a:xfrm>
            <a:off x="320040" y="1463040"/>
            <a:ext cx="4023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QUICK WINS  —  Config / Policy Changes on Existing Tools</a:t>
            </a:r>
            <a:endParaRPr lang="en-US" sz="1100" dirty="0"/>
          </a:p>
        </p:txBody>
      </p:sp>
      <p:sp>
        <p:nvSpPr>
          <p:cNvPr id="7" name="Shape 5"/>
          <p:cNvSpPr/>
          <p:nvPr/>
        </p:nvSpPr>
        <p:spPr>
          <a:xfrm>
            <a:off x="320040" y="2103120"/>
            <a:ext cx="4023360" cy="594360"/>
          </a:xfrm>
          <a:prstGeom prst="roundRect">
            <a:avLst>
              <a:gd name="adj" fmla="val 10769"/>
            </a:avLst>
          </a:prstGeom>
          <a:solidFill>
            <a:srgbClr val="0D2F1A"/>
          </a:solidFill>
          <a:ln w="12700">
            <a:solidFill>
              <a:srgbClr val="1E6B3A"/>
            </a:solidFill>
            <a:prstDash val="solid"/>
          </a:ln>
        </p:spPr>
      </p:sp>
      <p:sp>
        <p:nvSpPr>
          <p:cNvPr id="8" name="Text 6"/>
          <p:cNvSpPr/>
          <p:nvPr/>
        </p:nvSpPr>
        <p:spPr>
          <a:xfrm>
            <a:off x="457200" y="2148840"/>
            <a:ext cx="374904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Expand Xray Policy Scope</a:t>
            </a:r>
            <a:endParaRPr lang="en-US" sz="1100" dirty="0"/>
          </a:p>
        </p:txBody>
      </p:sp>
      <p:sp>
        <p:nvSpPr>
          <p:cNvPr id="9" name="Text 7"/>
          <p:cNvSpPr/>
          <p:nvPr/>
        </p:nvSpPr>
        <p:spPr>
          <a:xfrm>
            <a:off x="457200" y="23957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Enable High/Medium CVE blocking — config change in JFrog</a:t>
            </a:r>
            <a:endParaRPr lang="en-US" sz="1000" dirty="0"/>
          </a:p>
        </p:txBody>
      </p:sp>
      <p:sp>
        <p:nvSpPr>
          <p:cNvPr id="10" name="Shape 8"/>
          <p:cNvSpPr/>
          <p:nvPr/>
        </p:nvSpPr>
        <p:spPr>
          <a:xfrm>
            <a:off x="320040" y="2788920"/>
            <a:ext cx="4023360" cy="594360"/>
          </a:xfrm>
          <a:prstGeom prst="roundRect">
            <a:avLst>
              <a:gd name="adj" fmla="val 10769"/>
            </a:avLst>
          </a:prstGeom>
          <a:solidFill>
            <a:srgbClr val="0D2F1A"/>
          </a:solidFill>
          <a:ln w="12700">
            <a:solidFill>
              <a:srgbClr val="1E6B3A"/>
            </a:solidFill>
            <a:prstDash val="solid"/>
          </a:ln>
        </p:spPr>
      </p:sp>
      <p:sp>
        <p:nvSpPr>
          <p:cNvPr id="11" name="Text 9"/>
          <p:cNvSpPr/>
          <p:nvPr/>
        </p:nvSpPr>
        <p:spPr>
          <a:xfrm>
            <a:off x="457200" y="2834640"/>
            <a:ext cx="374904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Re-enable License/Sig Enforcement</a:t>
            </a:r>
            <a:endParaRPr lang="en-US" sz="1100" dirty="0"/>
          </a:p>
        </p:txBody>
      </p:sp>
      <p:sp>
        <p:nvSpPr>
          <p:cNvPr id="12" name="Text 10"/>
          <p:cNvSpPr/>
          <p:nvPr/>
        </p:nvSpPr>
        <p:spPr>
          <a:xfrm>
            <a:off x="457200" y="30815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Capability exists, was disabled — tune and re-activate</a:t>
            </a:r>
            <a:endParaRPr lang="en-US" sz="1000" dirty="0"/>
          </a:p>
        </p:txBody>
      </p:sp>
      <p:sp>
        <p:nvSpPr>
          <p:cNvPr id="13" name="Shape 11"/>
          <p:cNvSpPr/>
          <p:nvPr/>
        </p:nvSpPr>
        <p:spPr>
          <a:xfrm>
            <a:off x="320040" y="3474720"/>
            <a:ext cx="4023360" cy="594360"/>
          </a:xfrm>
          <a:prstGeom prst="roundRect">
            <a:avLst>
              <a:gd name="adj" fmla="val 10769"/>
            </a:avLst>
          </a:prstGeom>
          <a:solidFill>
            <a:srgbClr val="0D2F1A"/>
          </a:solidFill>
          <a:ln w="12700">
            <a:solidFill>
              <a:srgbClr val="1E6B3A"/>
            </a:solidFill>
            <a:prstDash val="solid"/>
          </a:ln>
        </p:spPr>
      </p:sp>
      <p:sp>
        <p:nvSpPr>
          <p:cNvPr id="14" name="Text 12"/>
          <p:cNvSpPr/>
          <p:nvPr/>
        </p:nvSpPr>
        <p:spPr>
          <a:xfrm>
            <a:off x="457200" y="3520440"/>
            <a:ext cx="374904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Mandate Artifactory Routing</a:t>
            </a:r>
            <a:endParaRPr lang="en-US" sz="1100" dirty="0"/>
          </a:p>
        </p:txBody>
      </p:sp>
      <p:sp>
        <p:nvSpPr>
          <p:cNvPr id="15" name="Text 13"/>
          <p:cNvSpPr/>
          <p:nvPr/>
        </p:nvSpPr>
        <p:spPr>
          <a:xfrm>
            <a:off x="457200" y="37673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Network policy + pipeline config — close the bypass gap</a:t>
            </a:r>
            <a:endParaRPr lang="en-US" sz="1000" dirty="0"/>
          </a:p>
        </p:txBody>
      </p:sp>
      <p:sp>
        <p:nvSpPr>
          <p:cNvPr id="16" name="Shape 14"/>
          <p:cNvSpPr/>
          <p:nvPr/>
        </p:nvSpPr>
        <p:spPr>
          <a:xfrm>
            <a:off x="320040" y="4160520"/>
            <a:ext cx="4023360" cy="594360"/>
          </a:xfrm>
          <a:prstGeom prst="roundRect">
            <a:avLst>
              <a:gd name="adj" fmla="val 10769"/>
            </a:avLst>
          </a:prstGeom>
          <a:solidFill>
            <a:srgbClr val="0D2F1A"/>
          </a:solidFill>
          <a:ln w="12700">
            <a:solidFill>
              <a:srgbClr val="1E6B3A"/>
            </a:solidFill>
            <a:prstDash val="solid"/>
          </a:ln>
        </p:spPr>
      </p:sp>
      <p:sp>
        <p:nvSpPr>
          <p:cNvPr id="17" name="Text 15"/>
          <p:cNvSpPr/>
          <p:nvPr/>
        </p:nvSpPr>
        <p:spPr>
          <a:xfrm>
            <a:off x="457200" y="4206240"/>
            <a:ext cx="3749040" cy="256032"/>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Automate IR Blocking Workflow</a:t>
            </a:r>
            <a:endParaRPr lang="en-US" sz="1100" dirty="0"/>
          </a:p>
        </p:txBody>
      </p:sp>
      <p:sp>
        <p:nvSpPr>
          <p:cNvPr id="18" name="Text 16"/>
          <p:cNvSpPr/>
          <p:nvPr/>
        </p:nvSpPr>
        <p:spPr>
          <a:xfrm>
            <a:off x="457200" y="44531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JFrog webhooks → ServiceNow for automated block notifications</a:t>
            </a:r>
            <a:endParaRPr lang="en-US" sz="1000" dirty="0"/>
          </a:p>
        </p:txBody>
      </p:sp>
      <p:sp>
        <p:nvSpPr>
          <p:cNvPr id="19" name="Shape 17"/>
          <p:cNvSpPr/>
          <p:nvPr/>
        </p:nvSpPr>
        <p:spPr>
          <a:xfrm>
            <a:off x="4800600" y="1463040"/>
            <a:ext cx="4023360" cy="502920"/>
          </a:xfrm>
          <a:prstGeom prst="roundRect">
            <a:avLst>
              <a:gd name="adj" fmla="val 14545"/>
            </a:avLst>
          </a:prstGeom>
          <a:solidFill>
            <a:srgbClr val="E05C5C"/>
          </a:solidFill>
          <a:ln w="12700">
            <a:solidFill>
              <a:srgbClr val="E05C5C"/>
            </a:solidFill>
            <a:prstDash val="solid"/>
          </a:ln>
        </p:spPr>
      </p:sp>
      <p:sp>
        <p:nvSpPr>
          <p:cNvPr id="20" name="Text 18"/>
          <p:cNvSpPr/>
          <p:nvPr/>
        </p:nvSpPr>
        <p:spPr>
          <a:xfrm>
            <a:off x="4800600" y="1463040"/>
            <a:ext cx="40233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NET-NEW BUILDS  —  Capability Does Not Yet Exist</a:t>
            </a:r>
            <a:endParaRPr lang="en-US" sz="1100" dirty="0"/>
          </a:p>
        </p:txBody>
      </p:sp>
      <p:sp>
        <p:nvSpPr>
          <p:cNvPr id="21" name="Shape 19"/>
          <p:cNvSpPr/>
          <p:nvPr/>
        </p:nvSpPr>
        <p:spPr>
          <a:xfrm>
            <a:off x="4800600" y="2103120"/>
            <a:ext cx="4023360" cy="594360"/>
          </a:xfrm>
          <a:prstGeom prst="roundRect">
            <a:avLst>
              <a:gd name="adj" fmla="val 10769"/>
            </a:avLst>
          </a:prstGeom>
          <a:solidFill>
            <a:srgbClr val="2B0A0A"/>
          </a:solidFill>
          <a:ln w="12700">
            <a:solidFill>
              <a:srgbClr val="7A1E1E"/>
            </a:solidFill>
            <a:prstDash val="solid"/>
          </a:ln>
        </p:spPr>
      </p:sp>
      <p:sp>
        <p:nvSpPr>
          <p:cNvPr id="22" name="Text 20"/>
          <p:cNvSpPr/>
          <p:nvPr/>
        </p:nvSpPr>
        <p:spPr>
          <a:xfrm>
            <a:off x="4937760" y="2148840"/>
            <a:ext cx="3749040" cy="256032"/>
          </a:xfrm>
          <a:prstGeom prst="rect">
            <a:avLst/>
          </a:prstGeom>
          <a:noFill/>
          <a:ln/>
        </p:spPr>
        <p:txBody>
          <a:bodyPr wrap="square" lIns="0" tIns="0" rIns="0" bIns="0" rtlCol="0" anchor="ctr"/>
          <a:lstStyle/>
          <a:p>
            <a:pPr indent="0" marL="0">
              <a:buNone/>
            </a:pPr>
            <a:r>
              <a:rPr lang="en-US" sz="1100" b="1" dirty="0">
                <a:solidFill>
                  <a:srgbClr val="E05C5C"/>
                </a:solidFill>
                <a:latin typeface="Calibri" pitchFamily="34" charset="0"/>
                <a:ea typeface="Calibri" pitchFamily="34" charset="-122"/>
                <a:cs typeface="Calibri" pitchFamily="34" charset="-120"/>
              </a:rPr>
              <a:t>SBOM Generation &amp; Attestation</a:t>
            </a:r>
            <a:endParaRPr lang="en-US" sz="1100" dirty="0"/>
          </a:p>
        </p:txBody>
      </p:sp>
      <p:sp>
        <p:nvSpPr>
          <p:cNvPr id="23" name="Text 21"/>
          <p:cNvSpPr/>
          <p:nvPr/>
        </p:nvSpPr>
        <p:spPr>
          <a:xfrm>
            <a:off x="4937760" y="23957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Generate signed SBOM at ingestion for all third-party deps</a:t>
            </a:r>
            <a:endParaRPr lang="en-US" sz="1000" dirty="0"/>
          </a:p>
        </p:txBody>
      </p:sp>
      <p:sp>
        <p:nvSpPr>
          <p:cNvPr id="24" name="Shape 22"/>
          <p:cNvSpPr/>
          <p:nvPr/>
        </p:nvSpPr>
        <p:spPr>
          <a:xfrm>
            <a:off x="4800600" y="2788920"/>
            <a:ext cx="4023360" cy="594360"/>
          </a:xfrm>
          <a:prstGeom prst="roundRect">
            <a:avLst>
              <a:gd name="adj" fmla="val 10769"/>
            </a:avLst>
          </a:prstGeom>
          <a:solidFill>
            <a:srgbClr val="2B0A0A"/>
          </a:solidFill>
          <a:ln w="12700">
            <a:solidFill>
              <a:srgbClr val="7A1E1E"/>
            </a:solidFill>
            <a:prstDash val="solid"/>
          </a:ln>
        </p:spPr>
      </p:sp>
      <p:sp>
        <p:nvSpPr>
          <p:cNvPr id="25" name="Text 23"/>
          <p:cNvSpPr/>
          <p:nvPr/>
        </p:nvSpPr>
        <p:spPr>
          <a:xfrm>
            <a:off x="4937760" y="2834640"/>
            <a:ext cx="3749040" cy="256032"/>
          </a:xfrm>
          <a:prstGeom prst="rect">
            <a:avLst/>
          </a:prstGeom>
          <a:noFill/>
          <a:ln/>
        </p:spPr>
        <p:txBody>
          <a:bodyPr wrap="square" lIns="0" tIns="0" rIns="0" bIns="0" rtlCol="0" anchor="ctr"/>
          <a:lstStyle/>
          <a:p>
            <a:pPr indent="0" marL="0">
              <a:buNone/>
            </a:pPr>
            <a:r>
              <a:rPr lang="en-US" sz="1100" b="1" dirty="0">
                <a:solidFill>
                  <a:srgbClr val="E05C5C"/>
                </a:solidFill>
                <a:latin typeface="Calibri" pitchFamily="34" charset="0"/>
                <a:ea typeface="Calibri" pitchFamily="34" charset="-122"/>
                <a:cs typeface="Calibri" pitchFamily="34" charset="-120"/>
              </a:rPr>
              <a:t>Provenance Verification</a:t>
            </a:r>
            <a:endParaRPr lang="en-US" sz="1100" dirty="0"/>
          </a:p>
        </p:txBody>
      </p:sp>
      <p:sp>
        <p:nvSpPr>
          <p:cNvPr id="26" name="Text 24"/>
          <p:cNvSpPr/>
          <p:nvPr/>
        </p:nvSpPr>
        <p:spPr>
          <a:xfrm>
            <a:off x="4937760" y="30815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Cryptographic verification of artifact origin at pre-entry (Sigstore)</a:t>
            </a:r>
            <a:endParaRPr lang="en-US" sz="1000" dirty="0"/>
          </a:p>
        </p:txBody>
      </p:sp>
      <p:sp>
        <p:nvSpPr>
          <p:cNvPr id="27" name="Shape 25"/>
          <p:cNvSpPr/>
          <p:nvPr/>
        </p:nvSpPr>
        <p:spPr>
          <a:xfrm>
            <a:off x="4800600" y="3474720"/>
            <a:ext cx="4023360" cy="594360"/>
          </a:xfrm>
          <a:prstGeom prst="roundRect">
            <a:avLst>
              <a:gd name="adj" fmla="val 10769"/>
            </a:avLst>
          </a:prstGeom>
          <a:solidFill>
            <a:srgbClr val="2B0A0A"/>
          </a:solidFill>
          <a:ln w="12700">
            <a:solidFill>
              <a:srgbClr val="7A1E1E"/>
            </a:solidFill>
            <a:prstDash val="solid"/>
          </a:ln>
        </p:spPr>
      </p:sp>
      <p:sp>
        <p:nvSpPr>
          <p:cNvPr id="28" name="Text 26"/>
          <p:cNvSpPr/>
          <p:nvPr/>
        </p:nvSpPr>
        <p:spPr>
          <a:xfrm>
            <a:off x="4937760" y="3520440"/>
            <a:ext cx="3749040" cy="256032"/>
          </a:xfrm>
          <a:prstGeom prst="rect">
            <a:avLst/>
          </a:prstGeom>
          <a:noFill/>
          <a:ln/>
        </p:spPr>
        <p:txBody>
          <a:bodyPr wrap="square" lIns="0" tIns="0" rIns="0" bIns="0" rtlCol="0" anchor="ctr"/>
          <a:lstStyle/>
          <a:p>
            <a:pPr indent="0" marL="0">
              <a:buNone/>
            </a:pPr>
            <a:r>
              <a:rPr lang="en-US" sz="1100" b="1" dirty="0">
                <a:solidFill>
                  <a:srgbClr val="E05C5C"/>
                </a:solidFill>
                <a:latin typeface="Calibri" pitchFamily="34" charset="0"/>
                <a:ea typeface="Calibri" pitchFamily="34" charset="-122"/>
                <a:cs typeface="Calibri" pitchFamily="34" charset="-120"/>
              </a:rPr>
              <a:t>Provenance Generation</a:t>
            </a:r>
            <a:endParaRPr lang="en-US" sz="1100" dirty="0"/>
          </a:p>
        </p:txBody>
      </p:sp>
      <p:sp>
        <p:nvSpPr>
          <p:cNvPr id="29" name="Text 27"/>
          <p:cNvSpPr/>
          <p:nvPr/>
        </p:nvSpPr>
        <p:spPr>
          <a:xfrm>
            <a:off x="4937760" y="37673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Create SLSA-signed attestation records for all ingested artifacts</a:t>
            </a:r>
            <a:endParaRPr lang="en-US" sz="1000" dirty="0"/>
          </a:p>
        </p:txBody>
      </p:sp>
      <p:sp>
        <p:nvSpPr>
          <p:cNvPr id="30" name="Shape 28"/>
          <p:cNvSpPr/>
          <p:nvPr/>
        </p:nvSpPr>
        <p:spPr>
          <a:xfrm>
            <a:off x="4800600" y="4160520"/>
            <a:ext cx="4023360" cy="594360"/>
          </a:xfrm>
          <a:prstGeom prst="roundRect">
            <a:avLst>
              <a:gd name="adj" fmla="val 10769"/>
            </a:avLst>
          </a:prstGeom>
          <a:solidFill>
            <a:srgbClr val="2B0A0A"/>
          </a:solidFill>
          <a:ln w="12700">
            <a:solidFill>
              <a:srgbClr val="7A1E1E"/>
            </a:solidFill>
            <a:prstDash val="solid"/>
          </a:ln>
        </p:spPr>
      </p:sp>
      <p:sp>
        <p:nvSpPr>
          <p:cNvPr id="31" name="Text 29"/>
          <p:cNvSpPr/>
          <p:nvPr/>
        </p:nvSpPr>
        <p:spPr>
          <a:xfrm>
            <a:off x="4937760" y="4206240"/>
            <a:ext cx="3749040" cy="256032"/>
          </a:xfrm>
          <a:prstGeom prst="rect">
            <a:avLst/>
          </a:prstGeom>
          <a:noFill/>
          <a:ln/>
        </p:spPr>
        <p:txBody>
          <a:bodyPr wrap="square" lIns="0" tIns="0" rIns="0" bIns="0" rtlCol="0" anchor="ctr"/>
          <a:lstStyle/>
          <a:p>
            <a:pPr indent="0" marL="0">
              <a:buNone/>
            </a:pPr>
            <a:r>
              <a:rPr lang="en-US" sz="1100" b="1" dirty="0">
                <a:solidFill>
                  <a:srgbClr val="E05C5C"/>
                </a:solidFill>
                <a:latin typeface="Calibri" pitchFamily="34" charset="0"/>
                <a:ea typeface="Calibri" pitchFamily="34" charset="-122"/>
                <a:cs typeface="Calibri" pitchFamily="34" charset="-120"/>
              </a:rPr>
              <a:t>Transitive Dependency Analysis</a:t>
            </a:r>
            <a:endParaRPr lang="en-US" sz="1100" dirty="0"/>
          </a:p>
        </p:txBody>
      </p:sp>
      <p:sp>
        <p:nvSpPr>
          <p:cNvPr id="32" name="Text 30"/>
          <p:cNvSpPr/>
          <p:nvPr/>
        </p:nvSpPr>
        <p:spPr>
          <a:xfrm>
            <a:off x="4937760" y="44531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Full dependency tree scanning — not just direct packages</a:t>
            </a:r>
            <a:endParaRPr lang="en-US" sz="1000" dirty="0"/>
          </a:p>
        </p:txBody>
      </p:sp>
      <p:sp>
        <p:nvSpPr>
          <p:cNvPr id="33" name="Shape 31"/>
          <p:cNvSpPr/>
          <p:nvPr/>
        </p:nvSpPr>
        <p:spPr>
          <a:xfrm>
            <a:off x="4800600" y="4846320"/>
            <a:ext cx="4023360" cy="594360"/>
          </a:xfrm>
          <a:prstGeom prst="roundRect">
            <a:avLst>
              <a:gd name="adj" fmla="val 10769"/>
            </a:avLst>
          </a:prstGeom>
          <a:solidFill>
            <a:srgbClr val="2B0A0A"/>
          </a:solidFill>
          <a:ln w="12700">
            <a:solidFill>
              <a:srgbClr val="7A1E1E"/>
            </a:solidFill>
            <a:prstDash val="solid"/>
          </a:ln>
        </p:spPr>
      </p:sp>
      <p:sp>
        <p:nvSpPr>
          <p:cNvPr id="34" name="Text 32"/>
          <p:cNvSpPr/>
          <p:nvPr/>
        </p:nvSpPr>
        <p:spPr>
          <a:xfrm>
            <a:off x="4937760" y="4892040"/>
            <a:ext cx="3749040" cy="256032"/>
          </a:xfrm>
          <a:prstGeom prst="rect">
            <a:avLst/>
          </a:prstGeom>
          <a:noFill/>
          <a:ln/>
        </p:spPr>
        <p:txBody>
          <a:bodyPr wrap="square" lIns="0" tIns="0" rIns="0" bIns="0" rtlCol="0" anchor="ctr"/>
          <a:lstStyle/>
          <a:p>
            <a:pPr indent="0" marL="0">
              <a:buNone/>
            </a:pPr>
            <a:r>
              <a:rPr lang="en-US" sz="1100" b="1" dirty="0">
                <a:solidFill>
                  <a:srgbClr val="E05C5C"/>
                </a:solidFill>
                <a:latin typeface="Calibri" pitchFamily="34" charset="0"/>
                <a:ea typeface="Calibri" pitchFamily="34" charset="-122"/>
                <a:cs typeface="Calibri" pitchFamily="34" charset="-120"/>
              </a:rPr>
              <a:t>Developer Notification &amp; Remediation</a:t>
            </a:r>
            <a:endParaRPr lang="en-US" sz="1100" dirty="0"/>
          </a:p>
        </p:txBody>
      </p:sp>
      <p:sp>
        <p:nvSpPr>
          <p:cNvPr id="35" name="Text 33"/>
          <p:cNvSpPr/>
          <p:nvPr/>
        </p:nvSpPr>
        <p:spPr>
          <a:xfrm>
            <a:off x="4937760" y="5138928"/>
            <a:ext cx="3749040" cy="228600"/>
          </a:xfrm>
          <a:prstGeom prst="rect">
            <a:avLst/>
          </a:prstGeom>
          <a:noFill/>
          <a:ln/>
        </p:spPr>
        <p:txBody>
          <a:bodyPr wrap="square" lIns="0" tIns="0" rIns="0" bIns="0" rtlCol="0" anchor="ctr"/>
          <a:lstStyle/>
          <a:p>
            <a:pPr indent="0" marL="0">
              <a:buNone/>
            </a:pPr>
            <a:r>
              <a:rPr lang="en-US" sz="1000" dirty="0">
                <a:solidFill>
                  <a:srgbClr val="8AAAC0"/>
                </a:solidFill>
                <a:latin typeface="Calibri" pitchFamily="34" charset="0"/>
                <a:ea typeface="Calibri" pitchFamily="34" charset="-122"/>
                <a:cs typeface="Calibri" pitchFamily="34" charset="-120"/>
              </a:rPr>
              <a:t>Automated alerts + ticket creation on block events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48640" y="228600"/>
            <a:ext cx="8229600" cy="256032"/>
          </a:xfrm>
          <a:prstGeom prst="rect">
            <a:avLst/>
          </a:prstGeom>
          <a:noFill/>
          <a:ln/>
        </p:spPr>
        <p:txBody>
          <a:bodyPr wrap="square" lIns="0" tIns="0" rIns="0" bIns="0" rtlCol="0" anchor="ctr"/>
          <a:lstStyle/>
          <a:p>
            <a:pPr indent="0" marL="0">
              <a:buNone/>
            </a:pPr>
            <a:r>
              <a:rPr lang="en-US" sz="900" spc="300" kern="0" dirty="0">
                <a:solidFill>
                  <a:srgbClr val="64748B"/>
                </a:solidFill>
                <a:latin typeface="Calibri" pitchFamily="34" charset="0"/>
                <a:ea typeface="Calibri" pitchFamily="34" charset="-122"/>
                <a:cs typeface="Calibri" pitchFamily="34" charset="-120"/>
              </a:rPr>
              <a:t>06  /  RECOMMENDATIONS</a:t>
            </a:r>
            <a:endParaRPr lang="en-US" sz="900" dirty="0"/>
          </a:p>
        </p:txBody>
      </p:sp>
      <p:sp>
        <p:nvSpPr>
          <p:cNvPr id="3" name="Text 1"/>
          <p:cNvSpPr/>
          <p:nvPr/>
        </p:nvSpPr>
        <p:spPr>
          <a:xfrm>
            <a:off x="548640" y="457200"/>
            <a:ext cx="8229600" cy="640080"/>
          </a:xfrm>
          <a:prstGeom prst="rect">
            <a:avLst/>
          </a:prstGeom>
          <a:noFill/>
          <a:ln/>
        </p:spPr>
        <p:txBody>
          <a:bodyPr wrap="square" lIns="0" tIns="0" rIns="0" bIns="0" rtlCol="0" anchor="ctr"/>
          <a:lstStyle/>
          <a:p>
            <a:pPr indent="0" marL="0">
              <a:buNone/>
            </a:pPr>
            <a:r>
              <a:rPr lang="en-US" sz="3000" b="1" dirty="0">
                <a:solidFill>
                  <a:srgbClr val="0D1E3A"/>
                </a:solidFill>
                <a:latin typeface="Calibri" pitchFamily="34" charset="0"/>
                <a:ea typeface="Calibri" pitchFamily="34" charset="-122"/>
                <a:cs typeface="Calibri" pitchFamily="34" charset="-120"/>
              </a:rPr>
              <a:t>Recommended Next Steps</a:t>
            </a:r>
            <a:endParaRPr lang="en-US" sz="3000" dirty="0"/>
          </a:p>
        </p:txBody>
      </p:sp>
      <p:sp>
        <p:nvSpPr>
          <p:cNvPr id="4" name="Shape 2"/>
          <p:cNvSpPr/>
          <p:nvPr/>
        </p:nvSpPr>
        <p:spPr>
          <a:xfrm>
            <a:off x="274320" y="1234440"/>
            <a:ext cx="2743200" cy="3474720"/>
          </a:xfrm>
          <a:prstGeom prst="roundRect">
            <a:avLst>
              <a:gd name="adj" fmla="val 3333"/>
            </a:avLst>
          </a:prstGeom>
          <a:solidFill>
            <a:srgbClr val="EBF9F0"/>
          </a:solidFill>
          <a:ln w="12700">
            <a:solidFill>
              <a:srgbClr val="A3D9B8"/>
            </a:solidFill>
            <a:prstDash val="solid"/>
          </a:ln>
          <a:effectLst>
            <a:outerShdw sx="100000" sy="100000" kx="0" ky="0" algn="bl" rotWithShape="0" blurRad="76200" dist="25400" dir="8100000">
              <a:srgbClr val="000000">
                <a:alpha val="12000"/>
              </a:srgbClr>
            </a:outerShdw>
          </a:effectLst>
        </p:spPr>
      </p:sp>
      <p:sp>
        <p:nvSpPr>
          <p:cNvPr id="5" name="Shape 3"/>
          <p:cNvSpPr/>
          <p:nvPr/>
        </p:nvSpPr>
        <p:spPr>
          <a:xfrm>
            <a:off x="274320" y="1234440"/>
            <a:ext cx="2743200" cy="658368"/>
          </a:xfrm>
          <a:prstGeom prst="roundRect">
            <a:avLst>
              <a:gd name="adj" fmla="val 13889"/>
            </a:avLst>
          </a:prstGeom>
          <a:solidFill>
            <a:srgbClr val="1A7A40"/>
          </a:solidFill>
          <a:ln w="12700">
            <a:solidFill>
              <a:srgbClr val="1A7A40"/>
            </a:solidFill>
            <a:prstDash val="solid"/>
          </a:ln>
        </p:spPr>
      </p:sp>
      <p:sp>
        <p:nvSpPr>
          <p:cNvPr id="6" name="Shape 4"/>
          <p:cNvSpPr/>
          <p:nvPr/>
        </p:nvSpPr>
        <p:spPr>
          <a:xfrm>
            <a:off x="274320" y="1600200"/>
            <a:ext cx="2743200" cy="292608"/>
          </a:xfrm>
          <a:prstGeom prst="rect">
            <a:avLst/>
          </a:prstGeom>
          <a:solidFill>
            <a:srgbClr val="1A7A40"/>
          </a:solidFill>
          <a:ln w="12700">
            <a:solidFill>
              <a:srgbClr val="1A7A40"/>
            </a:solidFill>
            <a:prstDash val="solid"/>
          </a:ln>
        </p:spPr>
      </p:sp>
      <p:sp>
        <p:nvSpPr>
          <p:cNvPr id="7" name="Text 5"/>
          <p:cNvSpPr/>
          <p:nvPr/>
        </p:nvSpPr>
        <p:spPr>
          <a:xfrm>
            <a:off x="274320" y="1252728"/>
            <a:ext cx="2743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8" name="Text 6"/>
          <p:cNvSpPr/>
          <p:nvPr/>
        </p:nvSpPr>
        <p:spPr>
          <a:xfrm>
            <a:off x="274320" y="1591056"/>
            <a:ext cx="27432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Immediate Priority</a:t>
            </a:r>
            <a:endParaRPr lang="en-US" sz="1000" dirty="0"/>
          </a:p>
        </p:txBody>
      </p:sp>
      <p:sp>
        <p:nvSpPr>
          <p:cNvPr id="9" name="Text 7"/>
          <p:cNvSpPr/>
          <p:nvPr/>
        </p:nvSpPr>
        <p:spPr>
          <a:xfrm>
            <a:off x="384048" y="1975104"/>
            <a:ext cx="2523744" cy="5943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Approve expansion of Xray policy to block High + Medium CVEs</a:t>
            </a:r>
            <a:endParaRPr lang="en-US" sz="1000" dirty="0"/>
          </a:p>
        </p:txBody>
      </p:sp>
      <p:sp>
        <p:nvSpPr>
          <p:cNvPr id="10" name="Text 8"/>
          <p:cNvSpPr/>
          <p:nvPr/>
        </p:nvSpPr>
        <p:spPr>
          <a:xfrm>
            <a:off x="384048" y="2633472"/>
            <a:ext cx="2523744" cy="5943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Re-enable signature and license validation enforcement</a:t>
            </a:r>
            <a:endParaRPr lang="en-US" sz="1000" dirty="0"/>
          </a:p>
        </p:txBody>
      </p:sp>
      <p:sp>
        <p:nvSpPr>
          <p:cNvPr id="11" name="Text 9"/>
          <p:cNvSpPr/>
          <p:nvPr/>
        </p:nvSpPr>
        <p:spPr>
          <a:xfrm>
            <a:off x="384048" y="3291840"/>
            <a:ext cx="2523744" cy="594360"/>
          </a:xfrm>
          <a:prstGeom prst="rect">
            <a:avLst/>
          </a:prstGeom>
          <a:noFill/>
          <a:ln/>
        </p:spPr>
        <p:txBody>
          <a:bodyPr wrap="square" lIns="0" tIns="0" rIns="0" bIns="0" rtlCol="0" anchor="ctr"/>
          <a:lstStyle/>
          <a:p>
            <a:pPr indent="0" marL="0">
              <a:buNone/>
            </a:pPr>
            <a:r>
              <a:rPr lang="en-US" sz="1000" b="1" dirty="0">
                <a:solidFill>
                  <a:srgbClr val="1A7A4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Mandate Artifactory routing for all development teams</a:t>
            </a:r>
            <a:endParaRPr lang="en-US" sz="1000" dirty="0"/>
          </a:p>
        </p:txBody>
      </p:sp>
      <p:sp>
        <p:nvSpPr>
          <p:cNvPr id="12" name="Shape 10"/>
          <p:cNvSpPr/>
          <p:nvPr/>
        </p:nvSpPr>
        <p:spPr>
          <a:xfrm>
            <a:off x="365760" y="4023360"/>
            <a:ext cx="2560320" cy="502920"/>
          </a:xfrm>
          <a:prstGeom prst="roundRect">
            <a:avLst>
              <a:gd name="adj" fmla="val 10909"/>
            </a:avLst>
          </a:prstGeom>
          <a:solidFill>
            <a:srgbClr val="FFFFFF"/>
          </a:solidFill>
          <a:ln w="12700">
            <a:solidFill>
              <a:srgbClr val="A3D9B8"/>
            </a:solidFill>
            <a:prstDash val="solid"/>
          </a:ln>
        </p:spPr>
      </p:sp>
      <p:sp>
        <p:nvSpPr>
          <p:cNvPr id="13" name="Text 11"/>
          <p:cNvSpPr/>
          <p:nvPr/>
        </p:nvSpPr>
        <p:spPr>
          <a:xfrm>
            <a:off x="365760" y="4023360"/>
            <a:ext cx="2560320" cy="502920"/>
          </a:xfrm>
          <a:prstGeom prst="rect">
            <a:avLst/>
          </a:prstGeom>
          <a:noFill/>
          <a:ln/>
        </p:spPr>
        <p:txBody>
          <a:bodyPr wrap="square" lIns="0" tIns="0" rIns="0" bIns="0" rtlCol="0" anchor="ctr"/>
          <a:lstStyle/>
          <a:p>
            <a:pPr algn="ctr" indent="0" marL="0">
              <a:buNone/>
            </a:pPr>
            <a:r>
              <a:rPr lang="en-US" sz="1000" b="1" dirty="0">
                <a:solidFill>
                  <a:srgbClr val="1A7A40"/>
                </a:solidFill>
                <a:latin typeface="Calibri" pitchFamily="34" charset="0"/>
                <a:ea typeface="Calibri" pitchFamily="34" charset="-122"/>
                <a:cs typeface="Calibri" pitchFamily="34" charset="-120"/>
              </a:rPr>
              <a:t>Closes 3 gaps with zero new tooling investment</a:t>
            </a:r>
            <a:endParaRPr lang="en-US" sz="1000" dirty="0"/>
          </a:p>
        </p:txBody>
      </p:sp>
      <p:sp>
        <p:nvSpPr>
          <p:cNvPr id="14" name="Shape 12"/>
          <p:cNvSpPr/>
          <p:nvPr/>
        </p:nvSpPr>
        <p:spPr>
          <a:xfrm>
            <a:off x="3182112" y="1234440"/>
            <a:ext cx="2743200" cy="3474720"/>
          </a:xfrm>
          <a:prstGeom prst="roundRect">
            <a:avLst>
              <a:gd name="adj" fmla="val 3333"/>
            </a:avLst>
          </a:prstGeom>
          <a:solidFill>
            <a:srgbClr val="FFF8EC"/>
          </a:solidFill>
          <a:ln w="12700">
            <a:solidFill>
              <a:srgbClr val="F5C97A"/>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3182112" y="1234440"/>
            <a:ext cx="2743200" cy="658368"/>
          </a:xfrm>
          <a:prstGeom prst="roundRect">
            <a:avLst>
              <a:gd name="adj" fmla="val 13889"/>
            </a:avLst>
          </a:prstGeom>
          <a:solidFill>
            <a:srgbClr val="D4860A"/>
          </a:solidFill>
          <a:ln w="12700">
            <a:solidFill>
              <a:srgbClr val="D4860A"/>
            </a:solidFill>
            <a:prstDash val="solid"/>
          </a:ln>
        </p:spPr>
      </p:sp>
      <p:sp>
        <p:nvSpPr>
          <p:cNvPr id="16" name="Shape 14"/>
          <p:cNvSpPr/>
          <p:nvPr/>
        </p:nvSpPr>
        <p:spPr>
          <a:xfrm>
            <a:off x="3182112" y="1600200"/>
            <a:ext cx="2743200" cy="292608"/>
          </a:xfrm>
          <a:prstGeom prst="rect">
            <a:avLst/>
          </a:prstGeom>
          <a:solidFill>
            <a:srgbClr val="D4860A"/>
          </a:solidFill>
          <a:ln w="12700">
            <a:solidFill>
              <a:srgbClr val="D4860A"/>
            </a:solidFill>
            <a:prstDash val="solid"/>
          </a:ln>
        </p:spPr>
      </p:sp>
      <p:sp>
        <p:nvSpPr>
          <p:cNvPr id="17" name="Text 15"/>
          <p:cNvSpPr/>
          <p:nvPr/>
        </p:nvSpPr>
        <p:spPr>
          <a:xfrm>
            <a:off x="3182112" y="1252728"/>
            <a:ext cx="2743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8" name="Text 16"/>
          <p:cNvSpPr/>
          <p:nvPr/>
        </p:nvSpPr>
        <p:spPr>
          <a:xfrm>
            <a:off x="3182112" y="1591056"/>
            <a:ext cx="27432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Near-Term Priority</a:t>
            </a:r>
            <a:endParaRPr lang="en-US" sz="1000" dirty="0"/>
          </a:p>
        </p:txBody>
      </p:sp>
      <p:sp>
        <p:nvSpPr>
          <p:cNvPr id="19" name="Text 17"/>
          <p:cNvSpPr/>
          <p:nvPr/>
        </p:nvSpPr>
        <p:spPr>
          <a:xfrm>
            <a:off x="3291840" y="1975104"/>
            <a:ext cx="2523744" cy="5943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Implement automated IR blocking + developer notification via ServiceNow</a:t>
            </a:r>
            <a:endParaRPr lang="en-US" sz="1000" dirty="0"/>
          </a:p>
        </p:txBody>
      </p:sp>
      <p:sp>
        <p:nvSpPr>
          <p:cNvPr id="20" name="Text 18"/>
          <p:cNvSpPr/>
          <p:nvPr/>
        </p:nvSpPr>
        <p:spPr>
          <a:xfrm>
            <a:off x="3291840" y="2633472"/>
            <a:ext cx="2523744" cy="5943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Deploy SBOM generation for all third-party artifact ingestion</a:t>
            </a:r>
            <a:endParaRPr lang="en-US" sz="1000" dirty="0"/>
          </a:p>
        </p:txBody>
      </p:sp>
      <p:sp>
        <p:nvSpPr>
          <p:cNvPr id="21" name="Text 19"/>
          <p:cNvSpPr/>
          <p:nvPr/>
        </p:nvSpPr>
        <p:spPr>
          <a:xfrm>
            <a:off x="3291840" y="3291840"/>
            <a:ext cx="2523744" cy="594360"/>
          </a:xfrm>
          <a:prstGeom prst="rect">
            <a:avLst/>
          </a:prstGeom>
          <a:noFill/>
          <a:ln/>
        </p:spPr>
        <p:txBody>
          <a:bodyPr wrap="square" lIns="0" tIns="0" rIns="0" bIns="0" rtlCol="0" anchor="ctr"/>
          <a:lstStyle/>
          <a:p>
            <a:pPr indent="0" marL="0">
              <a:buNone/>
            </a:pPr>
            <a:r>
              <a:rPr lang="en-US" sz="1000" b="1" dirty="0">
                <a:solidFill>
                  <a:srgbClr val="D4860A"/>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Implement dependency hash locking across all package ecosystems</a:t>
            </a:r>
            <a:endParaRPr lang="en-US" sz="1000" dirty="0"/>
          </a:p>
        </p:txBody>
      </p:sp>
      <p:sp>
        <p:nvSpPr>
          <p:cNvPr id="22" name="Shape 20"/>
          <p:cNvSpPr/>
          <p:nvPr/>
        </p:nvSpPr>
        <p:spPr>
          <a:xfrm>
            <a:off x="3273552" y="4023360"/>
            <a:ext cx="2560320" cy="502920"/>
          </a:xfrm>
          <a:prstGeom prst="roundRect">
            <a:avLst>
              <a:gd name="adj" fmla="val 10909"/>
            </a:avLst>
          </a:prstGeom>
          <a:solidFill>
            <a:srgbClr val="FFFFFF"/>
          </a:solidFill>
          <a:ln w="12700">
            <a:solidFill>
              <a:srgbClr val="F5C97A"/>
            </a:solidFill>
            <a:prstDash val="solid"/>
          </a:ln>
        </p:spPr>
      </p:sp>
      <p:sp>
        <p:nvSpPr>
          <p:cNvPr id="23" name="Text 21"/>
          <p:cNvSpPr/>
          <p:nvPr/>
        </p:nvSpPr>
        <p:spPr>
          <a:xfrm>
            <a:off x="3273552" y="4023360"/>
            <a:ext cx="2560320" cy="502920"/>
          </a:xfrm>
          <a:prstGeom prst="rect">
            <a:avLst/>
          </a:prstGeom>
          <a:noFill/>
          <a:ln/>
        </p:spPr>
        <p:txBody>
          <a:bodyPr wrap="square" lIns="0" tIns="0" rIns="0" bIns="0" rtlCol="0" anchor="ctr"/>
          <a:lstStyle/>
          <a:p>
            <a:pPr algn="ctr" indent="0" marL="0">
              <a:buNone/>
            </a:pPr>
            <a:r>
              <a:rPr lang="en-US" sz="1000" b="1" dirty="0">
                <a:solidFill>
                  <a:srgbClr val="D4860A"/>
                </a:solidFill>
                <a:latin typeface="Calibri" pitchFamily="34" charset="0"/>
                <a:ea typeface="Calibri" pitchFamily="34" charset="-122"/>
                <a:cs typeface="Calibri" pitchFamily="34" charset="-120"/>
              </a:rPr>
              <a:t>Achieves SLSA Level 1 compliance</a:t>
            </a:r>
            <a:endParaRPr lang="en-US" sz="1000" dirty="0"/>
          </a:p>
        </p:txBody>
      </p:sp>
      <p:sp>
        <p:nvSpPr>
          <p:cNvPr id="24" name="Shape 22"/>
          <p:cNvSpPr/>
          <p:nvPr/>
        </p:nvSpPr>
        <p:spPr>
          <a:xfrm>
            <a:off x="6089904" y="1234440"/>
            <a:ext cx="2743200" cy="3474720"/>
          </a:xfrm>
          <a:prstGeom prst="roundRect">
            <a:avLst>
              <a:gd name="adj" fmla="val 3333"/>
            </a:avLst>
          </a:prstGeom>
          <a:solidFill>
            <a:srgbClr val="EBF3FF"/>
          </a:solidFill>
          <a:ln w="12700">
            <a:solidFill>
              <a:srgbClr val="90BEF5"/>
            </a:solidFill>
            <a:prstDash val="solid"/>
          </a:ln>
          <a:effectLst>
            <a:outerShdw sx="100000" sy="100000" kx="0" ky="0" algn="bl" rotWithShape="0" blurRad="76200" dist="25400" dir="8100000">
              <a:srgbClr val="000000">
                <a:alpha val="12000"/>
              </a:srgbClr>
            </a:outerShdw>
          </a:effectLst>
        </p:spPr>
      </p:sp>
      <p:sp>
        <p:nvSpPr>
          <p:cNvPr id="25" name="Shape 23"/>
          <p:cNvSpPr/>
          <p:nvPr/>
        </p:nvSpPr>
        <p:spPr>
          <a:xfrm>
            <a:off x="6089904" y="1234440"/>
            <a:ext cx="2743200" cy="658368"/>
          </a:xfrm>
          <a:prstGeom prst="roundRect">
            <a:avLst>
              <a:gd name="adj" fmla="val 13889"/>
            </a:avLst>
          </a:prstGeom>
          <a:solidFill>
            <a:srgbClr val="1565C0"/>
          </a:solidFill>
          <a:ln w="12700">
            <a:solidFill>
              <a:srgbClr val="1565C0"/>
            </a:solidFill>
            <a:prstDash val="solid"/>
          </a:ln>
        </p:spPr>
      </p:sp>
      <p:sp>
        <p:nvSpPr>
          <p:cNvPr id="26" name="Shape 24"/>
          <p:cNvSpPr/>
          <p:nvPr/>
        </p:nvSpPr>
        <p:spPr>
          <a:xfrm>
            <a:off x="6089904" y="1600200"/>
            <a:ext cx="2743200" cy="292608"/>
          </a:xfrm>
          <a:prstGeom prst="rect">
            <a:avLst/>
          </a:prstGeom>
          <a:solidFill>
            <a:srgbClr val="1565C0"/>
          </a:solidFill>
          <a:ln w="12700">
            <a:solidFill>
              <a:srgbClr val="1565C0"/>
            </a:solidFill>
            <a:prstDash val="solid"/>
          </a:ln>
        </p:spPr>
      </p:sp>
      <p:sp>
        <p:nvSpPr>
          <p:cNvPr id="27" name="Text 25"/>
          <p:cNvSpPr/>
          <p:nvPr/>
        </p:nvSpPr>
        <p:spPr>
          <a:xfrm>
            <a:off x="6089904" y="1252728"/>
            <a:ext cx="274320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28" name="Text 26"/>
          <p:cNvSpPr/>
          <p:nvPr/>
        </p:nvSpPr>
        <p:spPr>
          <a:xfrm>
            <a:off x="6089904" y="1591056"/>
            <a:ext cx="27432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Strategic Priority</a:t>
            </a:r>
            <a:endParaRPr lang="en-US" sz="1000" dirty="0"/>
          </a:p>
        </p:txBody>
      </p:sp>
      <p:sp>
        <p:nvSpPr>
          <p:cNvPr id="29" name="Text 27"/>
          <p:cNvSpPr/>
          <p:nvPr/>
        </p:nvSpPr>
        <p:spPr>
          <a:xfrm>
            <a:off x="6199632" y="1975104"/>
            <a:ext cx="2523744" cy="5943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Implement provenance verification at pre-entry (Sigstore integration)</a:t>
            </a:r>
            <a:endParaRPr lang="en-US" sz="1000" dirty="0"/>
          </a:p>
        </p:txBody>
      </p:sp>
      <p:sp>
        <p:nvSpPr>
          <p:cNvPr id="30" name="Text 28"/>
          <p:cNvSpPr/>
          <p:nvPr/>
        </p:nvSpPr>
        <p:spPr>
          <a:xfrm>
            <a:off x="6199632" y="2633472"/>
            <a:ext cx="2523744" cy="5943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Deploy transitive dependency analysis across full artifact tree</a:t>
            </a:r>
            <a:endParaRPr lang="en-US" sz="1000" dirty="0"/>
          </a:p>
        </p:txBody>
      </p:sp>
      <p:sp>
        <p:nvSpPr>
          <p:cNvPr id="31" name="Text 29"/>
          <p:cNvSpPr/>
          <p:nvPr/>
        </p:nvSpPr>
        <p:spPr>
          <a:xfrm>
            <a:off x="6199632" y="3291840"/>
            <a:ext cx="2523744" cy="594360"/>
          </a:xfrm>
          <a:prstGeom prst="rect">
            <a:avLst/>
          </a:prstGeom>
          <a:noFill/>
          <a:ln/>
        </p:spPr>
        <p:txBody>
          <a:bodyPr wrap="square" lIns="0" tIns="0" rIns="0" bIns="0" rtlCol="0" anchor="ctr"/>
          <a:lstStyle/>
          <a:p>
            <a:pPr indent="0" marL="0">
              <a:buNone/>
            </a:pPr>
            <a:r>
              <a:rPr lang="en-US" sz="1000" b="1" dirty="0">
                <a:solidFill>
                  <a:srgbClr val="1565C0"/>
                </a:solidFill>
                <a:latin typeface="Calibri" pitchFamily="34" charset="0"/>
                <a:ea typeface="Calibri" pitchFamily="34" charset="-122"/>
                <a:cs typeface="Calibri" pitchFamily="34" charset="-120"/>
              </a:rPr>
              <a:t>→  </a:t>
            </a:r>
            <a:pPr indent="0" marL="0">
              <a:buNone/>
            </a:pPr>
            <a:r>
              <a:rPr lang="en-US" sz="1000" dirty="0">
                <a:solidFill>
                  <a:srgbClr val="64748B"/>
                </a:solidFill>
                <a:latin typeface="Calibri" pitchFamily="34" charset="0"/>
                <a:ea typeface="Calibri" pitchFamily="34" charset="-122"/>
                <a:cs typeface="Calibri" pitchFamily="34" charset="-120"/>
              </a:rPr>
              <a:t>Implement continuous re-scanning and lifecycle governance</a:t>
            </a:r>
            <a:endParaRPr lang="en-US" sz="1000" dirty="0"/>
          </a:p>
        </p:txBody>
      </p:sp>
      <p:sp>
        <p:nvSpPr>
          <p:cNvPr id="32" name="Shape 30"/>
          <p:cNvSpPr/>
          <p:nvPr/>
        </p:nvSpPr>
        <p:spPr>
          <a:xfrm>
            <a:off x="6181344" y="4023360"/>
            <a:ext cx="2560320" cy="502920"/>
          </a:xfrm>
          <a:prstGeom prst="roundRect">
            <a:avLst>
              <a:gd name="adj" fmla="val 10909"/>
            </a:avLst>
          </a:prstGeom>
          <a:solidFill>
            <a:srgbClr val="FFFFFF"/>
          </a:solidFill>
          <a:ln w="12700">
            <a:solidFill>
              <a:srgbClr val="90BEF5"/>
            </a:solidFill>
            <a:prstDash val="solid"/>
          </a:ln>
        </p:spPr>
      </p:sp>
      <p:sp>
        <p:nvSpPr>
          <p:cNvPr id="33" name="Text 31"/>
          <p:cNvSpPr/>
          <p:nvPr/>
        </p:nvSpPr>
        <p:spPr>
          <a:xfrm>
            <a:off x="6181344" y="4023360"/>
            <a:ext cx="2560320" cy="502920"/>
          </a:xfrm>
          <a:prstGeom prst="rect">
            <a:avLst/>
          </a:prstGeom>
          <a:noFill/>
          <a:ln/>
        </p:spPr>
        <p:txBody>
          <a:bodyPr wrap="square" lIns="0" tIns="0" rIns="0" bIns="0"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Achieves SLSA Level 2 — aligns with financial services peers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E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30000"/>
          </a:blip>
          <a:stretch>
            <a:fillRect/>
          </a:stretch>
        </p:blipFill>
        <p:spPr>
          <a:xfrm>
            <a:off x="5029200" y="274320"/>
            <a:ext cx="3840480" cy="3840480"/>
          </a:xfrm>
          <a:prstGeom prst="rect">
            <a:avLst/>
          </a:prstGeom>
        </p:spPr>
      </p:pic>
      <p:sp>
        <p:nvSpPr>
          <p:cNvPr id="3" name="Text 0"/>
          <p:cNvSpPr/>
          <p:nvPr/>
        </p:nvSpPr>
        <p:spPr>
          <a:xfrm>
            <a:off x="548640" y="914400"/>
            <a:ext cx="50292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foundation is solid.</a:t>
            </a:r>
            <a:endParaRPr lang="en-US" sz="3200" dirty="0"/>
          </a:p>
        </p:txBody>
      </p:sp>
      <p:sp>
        <p:nvSpPr>
          <p:cNvPr id="4" name="Text 1"/>
          <p:cNvSpPr/>
          <p:nvPr/>
        </p:nvSpPr>
        <p:spPr>
          <a:xfrm>
            <a:off x="548640" y="1572768"/>
            <a:ext cx="5029200" cy="1005840"/>
          </a:xfrm>
          <a:prstGeom prst="rect">
            <a:avLst/>
          </a:prstGeom>
          <a:noFill/>
          <a:ln/>
        </p:spPr>
        <p:txBody>
          <a:bodyPr wrap="square" lIns="0" tIns="0" rIns="0" bIns="0" rtlCol="0" anchor="ctr"/>
          <a:lstStyle/>
          <a:p>
            <a:pPr indent="0" marL="0">
              <a:buNone/>
            </a:pPr>
            <a:r>
              <a:rPr lang="en-US" sz="2800" dirty="0">
                <a:solidFill>
                  <a:srgbClr val="CADCFC"/>
                </a:solidFill>
                <a:latin typeface="Calibri" pitchFamily="34" charset="0"/>
                <a:ea typeface="Calibri" pitchFamily="34" charset="-122"/>
                <a:cs typeface="Calibri" pitchFamily="34" charset="-120"/>
              </a:rPr>
              <a:t>The gaps are known.</a:t>
            </a:r>
            <a:endParaRPr lang="en-US" sz="2800" dirty="0"/>
          </a:p>
          <a:p>
            <a:pPr indent="0" marL="0">
              <a:buNone/>
            </a:pPr>
            <a:r>
              <a:rPr lang="en-US" sz="2800" dirty="0">
                <a:solidFill>
                  <a:srgbClr val="CADCFC"/>
                </a:solidFill>
                <a:latin typeface="Calibri" pitchFamily="34" charset="0"/>
                <a:ea typeface="Calibri" pitchFamily="34" charset="-122"/>
                <a:cs typeface="Calibri" pitchFamily="34" charset="-120"/>
              </a:rPr>
              <a:t>The path forward is clear.</a:t>
            </a:r>
            <a:endParaRPr lang="en-US" sz="2800" dirty="0"/>
          </a:p>
        </p:txBody>
      </p:sp>
      <p:sp>
        <p:nvSpPr>
          <p:cNvPr id="5" name="Text 2"/>
          <p:cNvSpPr/>
          <p:nvPr/>
        </p:nvSpPr>
        <p:spPr>
          <a:xfrm>
            <a:off x="548640" y="2834640"/>
            <a:ext cx="5029200" cy="347472"/>
          </a:xfrm>
          <a:prstGeom prst="rect">
            <a:avLst/>
          </a:prstGeom>
          <a:noFill/>
          <a:ln/>
        </p:spPr>
        <p:txBody>
          <a:bodyPr wrap="square" lIns="0" tIns="0" rIns="0" bIns="0" rtlCol="0" anchor="ctr"/>
          <a:lstStyle/>
          <a:p>
            <a:pPr indent="0" marL="0">
              <a:buNone/>
            </a:pPr>
            <a:r>
              <a:rPr lang="en-US" sz="1200" dirty="0">
                <a:solidFill>
                  <a:srgbClr val="8AAAC0"/>
                </a:solidFill>
                <a:latin typeface="Calibri" pitchFamily="34" charset="0"/>
                <a:ea typeface="Calibri" pitchFamily="34" charset="-122"/>
                <a:cs typeface="Calibri" pitchFamily="34" charset="-120"/>
              </a:rPr>
              <a:t>✅  3 controlled steps in place today — ServiceNow, DMZ, Xray</a:t>
            </a:r>
            <a:endParaRPr lang="en-US" sz="1200" dirty="0"/>
          </a:p>
        </p:txBody>
      </p:sp>
      <p:sp>
        <p:nvSpPr>
          <p:cNvPr id="6" name="Text 3"/>
          <p:cNvSpPr/>
          <p:nvPr/>
        </p:nvSpPr>
        <p:spPr>
          <a:xfrm>
            <a:off x="548640" y="3218688"/>
            <a:ext cx="5029200" cy="347472"/>
          </a:xfrm>
          <a:prstGeom prst="rect">
            <a:avLst/>
          </a:prstGeom>
          <a:noFill/>
          <a:ln/>
        </p:spPr>
        <p:txBody>
          <a:bodyPr wrap="square" lIns="0" tIns="0" rIns="0" bIns="0" rtlCol="0" anchor="ctr"/>
          <a:lstStyle/>
          <a:p>
            <a:pPr indent="0" marL="0">
              <a:buNone/>
            </a:pPr>
            <a:r>
              <a:rPr lang="en-US" sz="1200" dirty="0">
                <a:solidFill>
                  <a:srgbClr val="8AAAC0"/>
                </a:solidFill>
                <a:latin typeface="Calibri" pitchFamily="34" charset="0"/>
                <a:ea typeface="Calibri" pitchFamily="34" charset="-122"/>
                <a:cs typeface="Calibri" pitchFamily="34" charset="-120"/>
              </a:rPr>
              <a:t>⚠️  10 identified gaps — prioritized by risk and effort</a:t>
            </a:r>
            <a:endParaRPr lang="en-US" sz="1200" dirty="0"/>
          </a:p>
        </p:txBody>
      </p:sp>
      <p:sp>
        <p:nvSpPr>
          <p:cNvPr id="7" name="Text 4"/>
          <p:cNvSpPr/>
          <p:nvPr/>
        </p:nvSpPr>
        <p:spPr>
          <a:xfrm>
            <a:off x="548640" y="3602736"/>
            <a:ext cx="5029200" cy="347472"/>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  Phase 1 quick wins require no new tooling investment</a:t>
            </a:r>
            <a:endParaRPr lang="en-US" sz="1200" dirty="0"/>
          </a:p>
        </p:txBody>
      </p:sp>
      <p:sp>
        <p:nvSpPr>
          <p:cNvPr id="8" name="Text 5"/>
          <p:cNvSpPr/>
          <p:nvPr/>
        </p:nvSpPr>
        <p:spPr>
          <a:xfrm>
            <a:off x="548640" y="3986784"/>
            <a:ext cx="5029200" cy="347472"/>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  Clear path to SLSA L1, then L2 — aligning with financial services peers</a:t>
            </a:r>
            <a:endParaRPr lang="en-US" sz="1200" dirty="0"/>
          </a:p>
        </p:txBody>
      </p:sp>
      <p:sp>
        <p:nvSpPr>
          <p:cNvPr id="9" name="Shape 6"/>
          <p:cNvSpPr/>
          <p:nvPr/>
        </p:nvSpPr>
        <p:spPr>
          <a:xfrm>
            <a:off x="548640" y="4617720"/>
            <a:ext cx="4572000" cy="347472"/>
          </a:xfrm>
          <a:prstGeom prst="roundRect">
            <a:avLst>
              <a:gd name="adj" fmla="val 15789"/>
            </a:avLst>
          </a:prstGeom>
          <a:solidFill>
            <a:srgbClr val="1C3A62"/>
          </a:solidFill>
          <a:ln w="12700">
            <a:solidFill>
              <a:srgbClr val="2C4A72"/>
            </a:solidFill>
            <a:prstDash val="solid"/>
          </a:ln>
        </p:spPr>
      </p:sp>
      <p:sp>
        <p:nvSpPr>
          <p:cNvPr id="10" name="Text 7"/>
          <p:cNvSpPr/>
          <p:nvPr/>
        </p:nvSpPr>
        <p:spPr>
          <a:xfrm>
            <a:off x="548640" y="4617720"/>
            <a:ext cx="4572000" cy="347472"/>
          </a:xfrm>
          <a:prstGeom prst="rect">
            <a:avLst/>
          </a:prstGeom>
          <a:noFill/>
          <a:ln/>
        </p:spPr>
        <p:txBody>
          <a:bodyPr wrap="square" lIns="0" tIns="0" rIns="0" bIns="0" rtlCol="0" anchor="ctr"/>
          <a:lstStyle/>
          <a:p>
            <a:pPr algn="ctr" indent="0" marL="0">
              <a:buNone/>
            </a:pPr>
            <a:r>
              <a:rPr lang="en-US" sz="900" dirty="0">
                <a:solidFill>
                  <a:srgbClr val="8AAAC0"/>
                </a:solidFill>
                <a:latin typeface="Calibri" pitchFamily="34" charset="0"/>
                <a:ea typeface="Calibri" pitchFamily="34" charset="-122"/>
                <a:cs typeface="Calibri" pitchFamily="34" charset="-120"/>
              </a:rPr>
              <a:t>CICD Tools Team  ·  Information Security  ·  Supply Chain Hardening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Dependency Security — Leadership Briefing</dc:title>
  <dc:subject>PptxGenJS Presentation</dc:subject>
  <dc:creator>PptxGenJS</dc:creator>
  <cp:lastModifiedBy>PptxGenJS</cp:lastModifiedBy>
  <cp:revision>1</cp:revision>
  <dcterms:created xsi:type="dcterms:W3CDTF">2026-07-02T04:19:43Z</dcterms:created>
  <dcterms:modified xsi:type="dcterms:W3CDTF">2026-07-02T04:19:43Z</dcterms:modified>
</cp:coreProperties>
</file>