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roxima Nova Condensed Bold" charset="1" panose="02000506030000020004"/>
      <p:regular r:id="rId18"/>
    </p:embeddedFont>
    <p:embeddedFont>
      <p:font typeface="Touvlo" charset="1" panose="020B0604030403020204"/>
      <p:regular r:id="rId19"/>
    </p:embeddedFont>
    <p:embeddedFont>
      <p:font typeface="Touvlo Bold" charset="1" panose="020B0804030403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362950" y="361950"/>
            <a:ext cx="1562100" cy="18288000"/>
            <a:chOff x="0" y="0"/>
            <a:chExt cx="411417" cy="48165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1417" cy="4816592"/>
            </a:xfrm>
            <a:custGeom>
              <a:avLst/>
              <a:gdLst/>
              <a:ahLst/>
              <a:cxnLst/>
              <a:rect r="r" b="b" t="t" l="l"/>
              <a:pathLst>
                <a:path h="4816592" w="411417">
                  <a:moveTo>
                    <a:pt x="0" y="0"/>
                  </a:moveTo>
                  <a:lnTo>
                    <a:pt x="411417" y="0"/>
                  </a:lnTo>
                  <a:lnTo>
                    <a:pt x="411417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1254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171450"/>
              <a:ext cx="411417" cy="46451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84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0"/>
            <a:ext cx="8991600" cy="8724900"/>
            <a:chOff x="0" y="0"/>
            <a:chExt cx="1035548" cy="10048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5548" cy="1004833"/>
            </a:xfrm>
            <a:custGeom>
              <a:avLst/>
              <a:gdLst/>
              <a:ahLst/>
              <a:cxnLst/>
              <a:rect r="r" b="b" t="t" l="l"/>
              <a:pathLst>
                <a:path h="1004833" w="1035548">
                  <a:moveTo>
                    <a:pt x="0" y="0"/>
                  </a:moveTo>
                  <a:lnTo>
                    <a:pt x="1035548" y="0"/>
                  </a:lnTo>
                  <a:lnTo>
                    <a:pt x="1035548" y="1004833"/>
                  </a:lnTo>
                  <a:lnTo>
                    <a:pt x="0" y="1004833"/>
                  </a:lnTo>
                  <a:close/>
                </a:path>
              </a:pathLst>
            </a:custGeom>
            <a:blipFill>
              <a:blip r:embed="rId2"/>
              <a:stretch>
                <a:fillRect l="-276" t="0" r="-2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75300" y="1208723"/>
            <a:ext cx="8324850" cy="3601470"/>
            <a:chOff x="0" y="0"/>
            <a:chExt cx="11099800" cy="480196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09550"/>
              <a:ext cx="11099800" cy="3676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99"/>
                </a:lnSpc>
              </a:pPr>
              <a:r>
                <a:rPr lang="en-US" b="true" sz="10499">
                  <a:solidFill>
                    <a:srgbClr val="1F3A5F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Usage-Aware LLM Survey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146640"/>
              <a:ext cx="11088400" cy="655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47"/>
                </a:lnSpc>
              </a:pPr>
              <a:r>
                <a:rPr lang="en-US" sz="2962">
                  <a:solidFill>
                    <a:srgbClr val="536F8F"/>
                  </a:solidFill>
                  <a:latin typeface="Touvlo"/>
                  <a:ea typeface="Touvlo"/>
                  <a:cs typeface="Touvlo"/>
                  <a:sym typeface="Touvlo"/>
                </a:rPr>
                <a:t>Prioritization and Insights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79524" y="9230208"/>
            <a:ext cx="6073801" cy="389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62"/>
              </a:lnSpc>
            </a:pPr>
            <a:r>
              <a:rPr lang="en-US" sz="2962">
                <a:solidFill>
                  <a:srgbClr val="AABEDC"/>
                </a:solidFill>
                <a:latin typeface="Touvlo"/>
                <a:ea typeface="Touvlo"/>
                <a:cs typeface="Touvlo"/>
                <a:sym typeface="Touvlo"/>
              </a:rPr>
              <a:t>[Company Name]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31592" y="9119140"/>
            <a:ext cx="3974833" cy="677964"/>
            <a:chOff x="0" y="0"/>
            <a:chExt cx="5299778" cy="903952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419659"/>
              <a:ext cx="5299778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AABEDC"/>
                  </a:solidFill>
                  <a:latin typeface="Touvlo"/>
                  <a:ea typeface="Touvlo"/>
                  <a:cs typeface="Touvlo"/>
                  <a:sym typeface="Touvlo"/>
                </a:rPr>
                <a:t>Leadership Team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47625"/>
              <a:ext cx="5299778" cy="5575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b="true" sz="2567">
                  <a:solidFill>
                    <a:srgbClr val="AABEDC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PRESENTED TO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620750" y="9124400"/>
            <a:ext cx="4000500" cy="672697"/>
            <a:chOff x="0" y="0"/>
            <a:chExt cx="5334000" cy="896930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412637"/>
              <a:ext cx="5334000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AABEDC"/>
                  </a:solidFill>
                  <a:latin typeface="Touvlo"/>
                  <a:ea typeface="Touvlo"/>
                  <a:cs typeface="Touvlo"/>
                  <a:sym typeface="Touvlo"/>
                </a:rPr>
                <a:t>[Presenter Name]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-47625"/>
              <a:ext cx="5334000" cy="5575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94"/>
                </a:lnSpc>
                <a:spcBef>
                  <a:spcPct val="0"/>
                </a:spcBef>
              </a:pPr>
              <a:r>
                <a:rPr lang="en-US" b="true" sz="2567">
                  <a:solidFill>
                    <a:srgbClr val="AABEDC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PRESENTED BY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66750" y="9120050"/>
            <a:ext cx="495645" cy="576750"/>
            <a:chOff x="0" y="0"/>
            <a:chExt cx="6985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8500" cy="812800"/>
            </a:xfrm>
            <a:custGeom>
              <a:avLst/>
              <a:gdLst/>
              <a:ahLst/>
              <a:cxnLst/>
              <a:rect r="r" b="b" t="t" l="l"/>
              <a:pathLst>
                <a:path h="812800" w="698500">
                  <a:moveTo>
                    <a:pt x="349250" y="0"/>
                  </a:moveTo>
                  <a:lnTo>
                    <a:pt x="698500" y="203200"/>
                  </a:lnTo>
                  <a:lnTo>
                    <a:pt x="698500" y="609600"/>
                  </a:lnTo>
                  <a:lnTo>
                    <a:pt x="349250" y="812800"/>
                  </a:lnTo>
                  <a:lnTo>
                    <a:pt x="0" y="609600"/>
                  </a:lnTo>
                  <a:lnTo>
                    <a:pt x="0" y="203200"/>
                  </a:lnTo>
                  <a:lnTo>
                    <a:pt x="349250" y="0"/>
                  </a:ln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101600"/>
              <a:ext cx="698500" cy="571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8324850" cy="7162800"/>
            <a:chOff x="0" y="0"/>
            <a:chExt cx="1287005" cy="11073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7005" cy="1107355"/>
            </a:xfrm>
            <a:custGeom>
              <a:avLst/>
              <a:gdLst/>
              <a:ahLst/>
              <a:cxnLst/>
              <a:rect r="r" b="b" t="t" l="l"/>
              <a:pathLst>
                <a:path h="1107355" w="1287005">
                  <a:moveTo>
                    <a:pt x="13950" y="0"/>
                  </a:moveTo>
                  <a:lnTo>
                    <a:pt x="1273056" y="0"/>
                  </a:lnTo>
                  <a:cubicBezTo>
                    <a:pt x="1276755" y="0"/>
                    <a:pt x="1280303" y="1470"/>
                    <a:pt x="1282919" y="4086"/>
                  </a:cubicBezTo>
                  <a:cubicBezTo>
                    <a:pt x="1285536" y="6702"/>
                    <a:pt x="1287005" y="10250"/>
                    <a:pt x="1287005" y="13950"/>
                  </a:cubicBezTo>
                  <a:lnTo>
                    <a:pt x="1287005" y="1093405"/>
                  </a:lnTo>
                  <a:cubicBezTo>
                    <a:pt x="1287005" y="1101109"/>
                    <a:pt x="1280760" y="1107355"/>
                    <a:pt x="1273056" y="1107355"/>
                  </a:cubicBezTo>
                  <a:lnTo>
                    <a:pt x="13950" y="1107355"/>
                  </a:lnTo>
                  <a:cubicBezTo>
                    <a:pt x="10250" y="1107355"/>
                    <a:pt x="6702" y="1105885"/>
                    <a:pt x="4086" y="1103269"/>
                  </a:cubicBezTo>
                  <a:cubicBezTo>
                    <a:pt x="1470" y="1100653"/>
                    <a:pt x="0" y="1097105"/>
                    <a:pt x="0" y="1093405"/>
                  </a:cubicBezTo>
                  <a:lnTo>
                    <a:pt x="0" y="13950"/>
                  </a:lnTo>
                  <a:cubicBezTo>
                    <a:pt x="0" y="6245"/>
                    <a:pt x="6245" y="0"/>
                    <a:pt x="13950" y="0"/>
                  </a:cubicBezTo>
                  <a:close/>
                </a:path>
              </a:pathLst>
            </a:custGeom>
            <a:blipFill>
              <a:blip r:embed="rId2"/>
              <a:stretch>
                <a:fillRect l="-243" t="0" r="-24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1F3A5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838200"/>
            <a:ext cx="6886575" cy="3273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1F3A5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The Challenge of Survey Overload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96400" y="8104822"/>
            <a:ext cx="7913050" cy="895350"/>
            <a:chOff x="0" y="0"/>
            <a:chExt cx="10550733" cy="11938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1055073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 strike="noStrike" u="none">
                  <a:solidFill>
                    <a:srgbClr val="536F8F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NAVIGATING EXCESSIVE FEEDBACK EFFICIENTLY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09507"/>
              <a:ext cx="10550733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 strike="noStrike" u="none">
                  <a:solidFill>
                    <a:srgbClr val="536F8F"/>
                  </a:solidFill>
                  <a:latin typeface="Touvlo"/>
                  <a:ea typeface="Touvlo"/>
                  <a:cs typeface="Touvlo"/>
                  <a:sym typeface="Touvlo"/>
                </a:rPr>
                <a:t>Teams face hundreds of unprioritized comments.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8324850" cy="7162800"/>
            <a:chOff x="0" y="0"/>
            <a:chExt cx="1287005" cy="11073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7005" cy="1107355"/>
            </a:xfrm>
            <a:custGeom>
              <a:avLst/>
              <a:gdLst/>
              <a:ahLst/>
              <a:cxnLst/>
              <a:rect r="r" b="b" t="t" l="l"/>
              <a:pathLst>
                <a:path h="1107355" w="1287005">
                  <a:moveTo>
                    <a:pt x="13950" y="0"/>
                  </a:moveTo>
                  <a:lnTo>
                    <a:pt x="1273056" y="0"/>
                  </a:lnTo>
                  <a:cubicBezTo>
                    <a:pt x="1276755" y="0"/>
                    <a:pt x="1280303" y="1470"/>
                    <a:pt x="1282919" y="4086"/>
                  </a:cubicBezTo>
                  <a:cubicBezTo>
                    <a:pt x="1285536" y="6702"/>
                    <a:pt x="1287005" y="10250"/>
                    <a:pt x="1287005" y="13950"/>
                  </a:cubicBezTo>
                  <a:lnTo>
                    <a:pt x="1287005" y="1093405"/>
                  </a:lnTo>
                  <a:cubicBezTo>
                    <a:pt x="1287005" y="1101109"/>
                    <a:pt x="1280760" y="1107355"/>
                    <a:pt x="1273056" y="1107355"/>
                  </a:cubicBezTo>
                  <a:lnTo>
                    <a:pt x="13950" y="1107355"/>
                  </a:lnTo>
                  <a:cubicBezTo>
                    <a:pt x="10250" y="1107355"/>
                    <a:pt x="6702" y="1105885"/>
                    <a:pt x="4086" y="1103269"/>
                  </a:cubicBezTo>
                  <a:cubicBezTo>
                    <a:pt x="1470" y="1100653"/>
                    <a:pt x="0" y="1097105"/>
                    <a:pt x="0" y="1093405"/>
                  </a:cubicBezTo>
                  <a:lnTo>
                    <a:pt x="0" y="13950"/>
                  </a:lnTo>
                  <a:cubicBezTo>
                    <a:pt x="0" y="6245"/>
                    <a:pt x="6245" y="0"/>
                    <a:pt x="13950" y="0"/>
                  </a:cubicBezTo>
                  <a:close/>
                </a:path>
              </a:pathLst>
            </a:custGeom>
            <a:blipFill>
              <a:blip r:embed="rId2"/>
              <a:stretch>
                <a:fillRect l="-243" t="0" r="-24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1F3A5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838200"/>
            <a:ext cx="6886575" cy="434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1F3A5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Achieving Actionable Insights from Feedback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96400" y="8104822"/>
            <a:ext cx="7913050" cy="804541"/>
            <a:chOff x="0" y="0"/>
            <a:chExt cx="10550733" cy="1072721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47625"/>
              <a:ext cx="10550733" cy="5474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87"/>
                </a:lnSpc>
              </a:pPr>
              <a:r>
                <a:rPr lang="en-US" b="true" sz="2491" strike="noStrike" u="none">
                  <a:solidFill>
                    <a:srgbClr val="536F8F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TRANSFORMING COMMENTS INTO PRIORITIZED ACTION ITEMS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99731"/>
              <a:ext cx="10550733" cy="472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22"/>
                </a:lnSpc>
                <a:spcBef>
                  <a:spcPct val="0"/>
                </a:spcBef>
              </a:pPr>
              <a:r>
                <a:rPr lang="en-US" sz="2158" strike="noStrike" u="none">
                  <a:solidFill>
                    <a:srgbClr val="536F8F"/>
                  </a:solidFill>
                  <a:latin typeface="Touvlo"/>
                  <a:ea typeface="Touvlo"/>
                  <a:cs typeface="Touvlo"/>
                  <a:sym typeface="Touvlo"/>
                </a:rPr>
                <a:t>Our solution enables teams to focus on high-impact issues.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8324850" cy="7162800"/>
            <a:chOff x="0" y="0"/>
            <a:chExt cx="1287005" cy="11073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7005" cy="1107355"/>
            </a:xfrm>
            <a:custGeom>
              <a:avLst/>
              <a:gdLst/>
              <a:ahLst/>
              <a:cxnLst/>
              <a:rect r="r" b="b" t="t" l="l"/>
              <a:pathLst>
                <a:path h="1107355" w="1287005">
                  <a:moveTo>
                    <a:pt x="13950" y="0"/>
                  </a:moveTo>
                  <a:lnTo>
                    <a:pt x="1273056" y="0"/>
                  </a:lnTo>
                  <a:cubicBezTo>
                    <a:pt x="1276755" y="0"/>
                    <a:pt x="1280303" y="1470"/>
                    <a:pt x="1282919" y="4086"/>
                  </a:cubicBezTo>
                  <a:cubicBezTo>
                    <a:pt x="1285536" y="6702"/>
                    <a:pt x="1287005" y="10250"/>
                    <a:pt x="1287005" y="13950"/>
                  </a:cubicBezTo>
                  <a:lnTo>
                    <a:pt x="1287005" y="1093405"/>
                  </a:lnTo>
                  <a:cubicBezTo>
                    <a:pt x="1287005" y="1101109"/>
                    <a:pt x="1280760" y="1107355"/>
                    <a:pt x="1273056" y="1107355"/>
                  </a:cubicBezTo>
                  <a:lnTo>
                    <a:pt x="13950" y="1107355"/>
                  </a:lnTo>
                  <a:cubicBezTo>
                    <a:pt x="10250" y="1107355"/>
                    <a:pt x="6702" y="1105885"/>
                    <a:pt x="4086" y="1103269"/>
                  </a:cubicBezTo>
                  <a:cubicBezTo>
                    <a:pt x="1470" y="1100653"/>
                    <a:pt x="0" y="1097105"/>
                    <a:pt x="0" y="1093405"/>
                  </a:cubicBezTo>
                  <a:lnTo>
                    <a:pt x="0" y="13950"/>
                  </a:lnTo>
                  <a:cubicBezTo>
                    <a:pt x="0" y="6245"/>
                    <a:pt x="6245" y="0"/>
                    <a:pt x="13950" y="0"/>
                  </a:cubicBezTo>
                  <a:close/>
                </a:path>
              </a:pathLst>
            </a:custGeom>
            <a:blipFill>
              <a:blip r:embed="rId2"/>
              <a:stretch>
                <a:fillRect l="-243" t="0" r="-24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1F3A5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838200"/>
            <a:ext cx="6886575" cy="434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1F3A5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From Survey Comments to Actionable Insights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96400" y="8104822"/>
            <a:ext cx="7913050" cy="813133"/>
            <a:chOff x="0" y="0"/>
            <a:chExt cx="10550733" cy="108417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47625"/>
              <a:ext cx="10550733" cy="60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832"/>
                </a:lnSpc>
              </a:pPr>
              <a:r>
                <a:rPr lang="en-US" b="true" sz="2737" strike="noStrike" u="none">
                  <a:solidFill>
                    <a:srgbClr val="536F8F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TRANSFORMING COMMENTS INTO PRIORITIZED ACTIONS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45372"/>
              <a:ext cx="10550733" cy="438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29"/>
                </a:lnSpc>
                <a:spcBef>
                  <a:spcPct val="0"/>
                </a:spcBef>
              </a:pPr>
              <a:r>
                <a:rPr lang="en-US" sz="1949" strike="noStrike" u="none">
                  <a:solidFill>
                    <a:srgbClr val="536F8F"/>
                  </a:solidFill>
                  <a:latin typeface="Touvlo"/>
                  <a:ea typeface="Touvlo"/>
                  <a:cs typeface="Touvlo"/>
                  <a:sym typeface="Touvlo"/>
                </a:rPr>
                <a:t>Our system processes survey comments into structured insights.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8324850" cy="7162800"/>
            <a:chOff x="0" y="0"/>
            <a:chExt cx="1287005" cy="11073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7005" cy="1107355"/>
            </a:xfrm>
            <a:custGeom>
              <a:avLst/>
              <a:gdLst/>
              <a:ahLst/>
              <a:cxnLst/>
              <a:rect r="r" b="b" t="t" l="l"/>
              <a:pathLst>
                <a:path h="1107355" w="1287005">
                  <a:moveTo>
                    <a:pt x="13950" y="0"/>
                  </a:moveTo>
                  <a:lnTo>
                    <a:pt x="1273056" y="0"/>
                  </a:lnTo>
                  <a:cubicBezTo>
                    <a:pt x="1276755" y="0"/>
                    <a:pt x="1280303" y="1470"/>
                    <a:pt x="1282919" y="4086"/>
                  </a:cubicBezTo>
                  <a:cubicBezTo>
                    <a:pt x="1285536" y="6702"/>
                    <a:pt x="1287005" y="10250"/>
                    <a:pt x="1287005" y="13950"/>
                  </a:cubicBezTo>
                  <a:lnTo>
                    <a:pt x="1287005" y="1093405"/>
                  </a:lnTo>
                  <a:cubicBezTo>
                    <a:pt x="1287005" y="1101109"/>
                    <a:pt x="1280760" y="1107355"/>
                    <a:pt x="1273056" y="1107355"/>
                  </a:cubicBezTo>
                  <a:lnTo>
                    <a:pt x="13950" y="1107355"/>
                  </a:lnTo>
                  <a:cubicBezTo>
                    <a:pt x="10250" y="1107355"/>
                    <a:pt x="6702" y="1105885"/>
                    <a:pt x="4086" y="1103269"/>
                  </a:cubicBezTo>
                  <a:cubicBezTo>
                    <a:pt x="1470" y="1100653"/>
                    <a:pt x="0" y="1097105"/>
                    <a:pt x="0" y="1093405"/>
                  </a:cubicBezTo>
                  <a:lnTo>
                    <a:pt x="0" y="13950"/>
                  </a:lnTo>
                  <a:cubicBezTo>
                    <a:pt x="0" y="6245"/>
                    <a:pt x="6245" y="0"/>
                    <a:pt x="13950" y="0"/>
                  </a:cubicBezTo>
                  <a:close/>
                </a:path>
              </a:pathLst>
            </a:custGeom>
            <a:blipFill>
              <a:blip r:embed="rId2"/>
              <a:stretch>
                <a:fillRect l="-243" t="0" r="-24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1F3A5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838200"/>
            <a:ext cx="6886575" cy="434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1F3A5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Efficient Classification Using Two-Tier LLMs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96400" y="8104822"/>
            <a:ext cx="7913050" cy="886777"/>
            <a:chOff x="0" y="0"/>
            <a:chExt cx="10550733" cy="118237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57150"/>
              <a:ext cx="10550733" cy="655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47"/>
                </a:lnSpc>
              </a:pPr>
              <a:r>
                <a:rPr lang="en-US" b="true" sz="2962" strike="noStrike" u="none">
                  <a:solidFill>
                    <a:srgbClr val="536F8F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STREAMLINED THEME ASSIGNMENT FOR COMMENTS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98077"/>
              <a:ext cx="10550733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 strike="noStrike" u="none">
                  <a:solidFill>
                    <a:srgbClr val="536F8F"/>
                  </a:solidFill>
                  <a:latin typeface="Touvlo"/>
                  <a:ea typeface="Touvlo"/>
                  <a:cs typeface="Touvlo"/>
                  <a:sym typeface="Touvlo"/>
                </a:rPr>
                <a:t>This system minimizes costs while maximizing accuracy.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8324850" cy="7162800"/>
            <a:chOff x="0" y="0"/>
            <a:chExt cx="1287005" cy="11073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7005" cy="1107355"/>
            </a:xfrm>
            <a:custGeom>
              <a:avLst/>
              <a:gdLst/>
              <a:ahLst/>
              <a:cxnLst/>
              <a:rect r="r" b="b" t="t" l="l"/>
              <a:pathLst>
                <a:path h="1107355" w="1287005">
                  <a:moveTo>
                    <a:pt x="13950" y="0"/>
                  </a:moveTo>
                  <a:lnTo>
                    <a:pt x="1273056" y="0"/>
                  </a:lnTo>
                  <a:cubicBezTo>
                    <a:pt x="1276755" y="0"/>
                    <a:pt x="1280303" y="1470"/>
                    <a:pt x="1282919" y="4086"/>
                  </a:cubicBezTo>
                  <a:cubicBezTo>
                    <a:pt x="1285536" y="6702"/>
                    <a:pt x="1287005" y="10250"/>
                    <a:pt x="1287005" y="13950"/>
                  </a:cubicBezTo>
                  <a:lnTo>
                    <a:pt x="1287005" y="1093405"/>
                  </a:lnTo>
                  <a:cubicBezTo>
                    <a:pt x="1287005" y="1101109"/>
                    <a:pt x="1280760" y="1107355"/>
                    <a:pt x="1273056" y="1107355"/>
                  </a:cubicBezTo>
                  <a:lnTo>
                    <a:pt x="13950" y="1107355"/>
                  </a:lnTo>
                  <a:cubicBezTo>
                    <a:pt x="10250" y="1107355"/>
                    <a:pt x="6702" y="1105885"/>
                    <a:pt x="4086" y="1103269"/>
                  </a:cubicBezTo>
                  <a:cubicBezTo>
                    <a:pt x="1470" y="1100653"/>
                    <a:pt x="0" y="1097105"/>
                    <a:pt x="0" y="1093405"/>
                  </a:cubicBezTo>
                  <a:lnTo>
                    <a:pt x="0" y="13950"/>
                  </a:lnTo>
                  <a:cubicBezTo>
                    <a:pt x="0" y="6245"/>
                    <a:pt x="6245" y="0"/>
                    <a:pt x="13950" y="0"/>
                  </a:cubicBezTo>
                  <a:close/>
                </a:path>
              </a:pathLst>
            </a:custGeom>
            <a:blipFill>
              <a:blip r:embed="rId2"/>
              <a:stretch>
                <a:fillRect l="-243" t="0" r="-24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1F3A5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838200"/>
            <a:ext cx="6886575" cy="434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1F3A5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Connecting Survey Comments to Usage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96400" y="8104822"/>
            <a:ext cx="7913050" cy="854479"/>
            <a:chOff x="0" y="0"/>
            <a:chExt cx="10550733" cy="1139305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1055073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 strike="noStrike" u="none">
                  <a:solidFill>
                    <a:srgbClr val="536F8F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MAPPING FEEDBACK TO REAL USER ACTIONS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99982"/>
              <a:ext cx="10550733" cy="4393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07"/>
                </a:lnSpc>
                <a:spcBef>
                  <a:spcPct val="0"/>
                </a:spcBef>
              </a:pPr>
              <a:r>
                <a:rPr lang="en-US" sz="1934" strike="noStrike" u="none">
                  <a:solidFill>
                    <a:srgbClr val="536F8F"/>
                  </a:solidFill>
                  <a:latin typeface="Touvlo"/>
                  <a:ea typeface="Touvlo"/>
                  <a:cs typeface="Touvlo"/>
                  <a:sym typeface="Touvlo"/>
                </a:rPr>
                <a:t>By linking each comment to usage analytics, we ensure relevance.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8324850" cy="7162800"/>
            <a:chOff x="0" y="0"/>
            <a:chExt cx="1287005" cy="11073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7005" cy="1107355"/>
            </a:xfrm>
            <a:custGeom>
              <a:avLst/>
              <a:gdLst/>
              <a:ahLst/>
              <a:cxnLst/>
              <a:rect r="r" b="b" t="t" l="l"/>
              <a:pathLst>
                <a:path h="1107355" w="1287005">
                  <a:moveTo>
                    <a:pt x="13950" y="0"/>
                  </a:moveTo>
                  <a:lnTo>
                    <a:pt x="1273056" y="0"/>
                  </a:lnTo>
                  <a:cubicBezTo>
                    <a:pt x="1276755" y="0"/>
                    <a:pt x="1280303" y="1470"/>
                    <a:pt x="1282919" y="4086"/>
                  </a:cubicBezTo>
                  <a:cubicBezTo>
                    <a:pt x="1285536" y="6702"/>
                    <a:pt x="1287005" y="10250"/>
                    <a:pt x="1287005" y="13950"/>
                  </a:cubicBezTo>
                  <a:lnTo>
                    <a:pt x="1287005" y="1093405"/>
                  </a:lnTo>
                  <a:cubicBezTo>
                    <a:pt x="1287005" y="1101109"/>
                    <a:pt x="1280760" y="1107355"/>
                    <a:pt x="1273056" y="1107355"/>
                  </a:cubicBezTo>
                  <a:lnTo>
                    <a:pt x="13950" y="1107355"/>
                  </a:lnTo>
                  <a:cubicBezTo>
                    <a:pt x="10250" y="1107355"/>
                    <a:pt x="6702" y="1105885"/>
                    <a:pt x="4086" y="1103269"/>
                  </a:cubicBezTo>
                  <a:cubicBezTo>
                    <a:pt x="1470" y="1100653"/>
                    <a:pt x="0" y="1097105"/>
                    <a:pt x="0" y="1093405"/>
                  </a:cubicBezTo>
                  <a:lnTo>
                    <a:pt x="0" y="13950"/>
                  </a:lnTo>
                  <a:cubicBezTo>
                    <a:pt x="0" y="6245"/>
                    <a:pt x="6245" y="0"/>
                    <a:pt x="13950" y="0"/>
                  </a:cubicBezTo>
                  <a:close/>
                </a:path>
              </a:pathLst>
            </a:custGeom>
            <a:blipFill>
              <a:blip r:embed="rId2"/>
              <a:stretch>
                <a:fillRect l="-243" t="0" r="-24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536F8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838200"/>
            <a:ext cx="6886575" cy="5426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1F3A5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Actionability Scoring: Quantifying Feedback Impact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96400" y="8104822"/>
            <a:ext cx="7913050" cy="870267"/>
            <a:chOff x="0" y="0"/>
            <a:chExt cx="10550733" cy="116035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1055073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 strike="noStrike" u="none">
                  <a:solidFill>
                    <a:srgbClr val="536F8F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MEASURING IMPACT THROUGH SCORING METRICS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19032"/>
              <a:ext cx="10550733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7"/>
                </a:lnSpc>
                <a:spcBef>
                  <a:spcPct val="0"/>
                </a:spcBef>
              </a:pPr>
              <a:r>
                <a:rPr lang="en-US" sz="2062" strike="noStrike" u="none">
                  <a:solidFill>
                    <a:srgbClr val="536F8F"/>
                  </a:solidFill>
                  <a:latin typeface="Touvlo"/>
                  <a:ea typeface="Touvlo"/>
                  <a:cs typeface="Touvlo"/>
                  <a:sym typeface="Touvlo"/>
                </a:rPr>
                <a:t>The scoring model combines user usage data with sentiment.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8324850" cy="7162800"/>
            <a:chOff x="0" y="0"/>
            <a:chExt cx="1287005" cy="11073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7005" cy="1107355"/>
            </a:xfrm>
            <a:custGeom>
              <a:avLst/>
              <a:gdLst/>
              <a:ahLst/>
              <a:cxnLst/>
              <a:rect r="r" b="b" t="t" l="l"/>
              <a:pathLst>
                <a:path h="1107355" w="1287005">
                  <a:moveTo>
                    <a:pt x="13950" y="0"/>
                  </a:moveTo>
                  <a:lnTo>
                    <a:pt x="1273056" y="0"/>
                  </a:lnTo>
                  <a:cubicBezTo>
                    <a:pt x="1276755" y="0"/>
                    <a:pt x="1280303" y="1470"/>
                    <a:pt x="1282919" y="4086"/>
                  </a:cubicBezTo>
                  <a:cubicBezTo>
                    <a:pt x="1285536" y="6702"/>
                    <a:pt x="1287005" y="10250"/>
                    <a:pt x="1287005" y="13950"/>
                  </a:cubicBezTo>
                  <a:lnTo>
                    <a:pt x="1287005" y="1093405"/>
                  </a:lnTo>
                  <a:cubicBezTo>
                    <a:pt x="1287005" y="1101109"/>
                    <a:pt x="1280760" y="1107355"/>
                    <a:pt x="1273056" y="1107355"/>
                  </a:cubicBezTo>
                  <a:lnTo>
                    <a:pt x="13950" y="1107355"/>
                  </a:lnTo>
                  <a:cubicBezTo>
                    <a:pt x="10250" y="1107355"/>
                    <a:pt x="6702" y="1105885"/>
                    <a:pt x="4086" y="1103269"/>
                  </a:cubicBezTo>
                  <a:cubicBezTo>
                    <a:pt x="1470" y="1100653"/>
                    <a:pt x="0" y="1097105"/>
                    <a:pt x="0" y="1093405"/>
                  </a:cubicBezTo>
                  <a:lnTo>
                    <a:pt x="0" y="13950"/>
                  </a:lnTo>
                  <a:cubicBezTo>
                    <a:pt x="0" y="6245"/>
                    <a:pt x="6245" y="0"/>
                    <a:pt x="13950" y="0"/>
                  </a:cubicBezTo>
                  <a:close/>
                </a:path>
              </a:pathLst>
            </a:custGeom>
            <a:blipFill>
              <a:blip r:embed="rId2"/>
              <a:stretch>
                <a:fillRect l="-243" t="0" r="-24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536F8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838200"/>
            <a:ext cx="6886575" cy="434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1F3A5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Explainable Actionability Through LLM Insights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96400" y="8104822"/>
            <a:ext cx="7913050" cy="821354"/>
            <a:chOff x="0" y="0"/>
            <a:chExt cx="10550733" cy="1095139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47625"/>
              <a:ext cx="10550733" cy="624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90"/>
                </a:lnSpc>
              </a:pPr>
              <a:r>
                <a:rPr lang="en-US" b="true" sz="2850" strike="noStrike" u="none">
                  <a:solidFill>
                    <a:srgbClr val="536F8F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UNDERSTANDING SCORES WITH CLEAR EXPLANATIONS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76487"/>
              <a:ext cx="10550733" cy="4186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43"/>
                </a:lnSpc>
                <a:spcBef>
                  <a:spcPct val="0"/>
                </a:spcBef>
              </a:pPr>
              <a:r>
                <a:rPr lang="en-US" sz="1888" strike="noStrike" u="none">
                  <a:solidFill>
                    <a:srgbClr val="536F8F"/>
                  </a:solidFill>
                  <a:latin typeface="Touvlo"/>
                  <a:ea typeface="Touvlo"/>
                  <a:cs typeface="Touvlo"/>
                  <a:sym typeface="Touvlo"/>
                </a:rPr>
                <a:t>Each score is accompanied by a concise, </a:t>
              </a:r>
              <a:r>
                <a:rPr lang="en-US" b="true" sz="1888" strike="noStrike" u="none">
                  <a:solidFill>
                    <a:srgbClr val="536F8F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human-readable reason</a:t>
              </a:r>
              <a:r>
                <a:rPr lang="en-US" sz="1888" strike="noStrike" u="none">
                  <a:solidFill>
                    <a:srgbClr val="536F8F"/>
                  </a:solidFill>
                  <a:latin typeface="Touvlo"/>
                  <a:ea typeface="Touvlo"/>
                  <a:cs typeface="Touvlo"/>
                  <a:sym typeface="Touvlo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8324850" cy="7162800"/>
            <a:chOff x="0" y="0"/>
            <a:chExt cx="1287005" cy="11073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7005" cy="1107355"/>
            </a:xfrm>
            <a:custGeom>
              <a:avLst/>
              <a:gdLst/>
              <a:ahLst/>
              <a:cxnLst/>
              <a:rect r="r" b="b" t="t" l="l"/>
              <a:pathLst>
                <a:path h="1107355" w="1287005">
                  <a:moveTo>
                    <a:pt x="13950" y="0"/>
                  </a:moveTo>
                  <a:lnTo>
                    <a:pt x="1273056" y="0"/>
                  </a:lnTo>
                  <a:cubicBezTo>
                    <a:pt x="1276755" y="0"/>
                    <a:pt x="1280303" y="1470"/>
                    <a:pt x="1282919" y="4086"/>
                  </a:cubicBezTo>
                  <a:cubicBezTo>
                    <a:pt x="1285536" y="6702"/>
                    <a:pt x="1287005" y="10250"/>
                    <a:pt x="1287005" y="13950"/>
                  </a:cubicBezTo>
                  <a:lnTo>
                    <a:pt x="1287005" y="1093405"/>
                  </a:lnTo>
                  <a:cubicBezTo>
                    <a:pt x="1287005" y="1101109"/>
                    <a:pt x="1280760" y="1107355"/>
                    <a:pt x="1273056" y="1107355"/>
                  </a:cubicBezTo>
                  <a:lnTo>
                    <a:pt x="13950" y="1107355"/>
                  </a:lnTo>
                  <a:cubicBezTo>
                    <a:pt x="10250" y="1107355"/>
                    <a:pt x="6702" y="1105885"/>
                    <a:pt x="4086" y="1103269"/>
                  </a:cubicBezTo>
                  <a:cubicBezTo>
                    <a:pt x="1470" y="1100653"/>
                    <a:pt x="0" y="1097105"/>
                    <a:pt x="0" y="1093405"/>
                  </a:cubicBezTo>
                  <a:lnTo>
                    <a:pt x="0" y="13950"/>
                  </a:lnTo>
                  <a:cubicBezTo>
                    <a:pt x="0" y="6245"/>
                    <a:pt x="6245" y="0"/>
                    <a:pt x="13950" y="0"/>
                  </a:cubicBezTo>
                  <a:close/>
                </a:path>
              </a:pathLst>
            </a:custGeom>
            <a:blipFill>
              <a:blip r:embed="rId2"/>
              <a:stretch>
                <a:fillRect l="-243" t="0" r="-24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1F3A5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838200"/>
            <a:ext cx="6886575" cy="434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1F3A5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High-Priority Feedback from ACH Power Users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96400" y="8104822"/>
            <a:ext cx="7913050" cy="895350"/>
            <a:chOff x="0" y="0"/>
            <a:chExt cx="10550733" cy="11938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1055073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 strike="noStrike" u="none">
                  <a:solidFill>
                    <a:srgbClr val="536F8F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PRIORITIZING ACTIONABLE USER CONCERNS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09507"/>
              <a:ext cx="10550733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 strike="noStrike" u="none">
                  <a:solidFill>
                    <a:srgbClr val="536F8F"/>
                  </a:solidFill>
                  <a:latin typeface="Touvlo"/>
                  <a:ea typeface="Touvlo"/>
                  <a:cs typeface="Touvlo"/>
                  <a:sym typeface="Touvlo"/>
                </a:rPr>
                <a:t>Feedback from high-usage users yields crucial insights.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8324850" cy="7162800"/>
            <a:chOff x="0" y="0"/>
            <a:chExt cx="1287005" cy="11073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7005" cy="1107355"/>
            </a:xfrm>
            <a:custGeom>
              <a:avLst/>
              <a:gdLst/>
              <a:ahLst/>
              <a:cxnLst/>
              <a:rect r="r" b="b" t="t" l="l"/>
              <a:pathLst>
                <a:path h="1107355" w="1287005">
                  <a:moveTo>
                    <a:pt x="13950" y="0"/>
                  </a:moveTo>
                  <a:lnTo>
                    <a:pt x="1273056" y="0"/>
                  </a:lnTo>
                  <a:cubicBezTo>
                    <a:pt x="1276755" y="0"/>
                    <a:pt x="1280303" y="1470"/>
                    <a:pt x="1282919" y="4086"/>
                  </a:cubicBezTo>
                  <a:cubicBezTo>
                    <a:pt x="1285536" y="6702"/>
                    <a:pt x="1287005" y="10250"/>
                    <a:pt x="1287005" y="13950"/>
                  </a:cubicBezTo>
                  <a:lnTo>
                    <a:pt x="1287005" y="1093405"/>
                  </a:lnTo>
                  <a:cubicBezTo>
                    <a:pt x="1287005" y="1101109"/>
                    <a:pt x="1280760" y="1107355"/>
                    <a:pt x="1273056" y="1107355"/>
                  </a:cubicBezTo>
                  <a:lnTo>
                    <a:pt x="13950" y="1107355"/>
                  </a:lnTo>
                  <a:cubicBezTo>
                    <a:pt x="10250" y="1107355"/>
                    <a:pt x="6702" y="1105885"/>
                    <a:pt x="4086" y="1103269"/>
                  </a:cubicBezTo>
                  <a:cubicBezTo>
                    <a:pt x="1470" y="1100653"/>
                    <a:pt x="0" y="1097105"/>
                    <a:pt x="0" y="1093405"/>
                  </a:cubicBezTo>
                  <a:lnTo>
                    <a:pt x="0" y="13950"/>
                  </a:lnTo>
                  <a:cubicBezTo>
                    <a:pt x="0" y="6245"/>
                    <a:pt x="6245" y="0"/>
                    <a:pt x="13950" y="0"/>
                  </a:cubicBezTo>
                  <a:close/>
                </a:path>
              </a:pathLst>
            </a:custGeom>
            <a:blipFill>
              <a:blip r:embed="rId2"/>
              <a:stretch>
                <a:fillRect l="-243" t="0" r="-24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1F3A5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838200"/>
            <a:ext cx="6886575" cy="3273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1F3A5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Low-Usage Statements: A Case Study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96400" y="8104822"/>
            <a:ext cx="7913050" cy="895350"/>
            <a:chOff x="0" y="0"/>
            <a:chExt cx="10550733" cy="11938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10550733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 strike="noStrike" u="none">
                  <a:solidFill>
                    <a:srgbClr val="536F8F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UNDERSTANDING LOWER PRIORITY FEEDBACK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709507"/>
              <a:ext cx="10550733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 strike="noStrike" u="none">
                  <a:solidFill>
                    <a:srgbClr val="536F8F"/>
                  </a:solidFill>
                  <a:latin typeface="Touvlo"/>
                  <a:ea typeface="Touvlo"/>
                  <a:cs typeface="Touvlo"/>
                  <a:sym typeface="Touvlo"/>
                </a:rPr>
                <a:t>Low-usage comments may not require immediate action.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666750"/>
            <a:ext cx="8324850" cy="7162800"/>
            <a:chOff x="0" y="0"/>
            <a:chExt cx="1287005" cy="11073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7005" cy="1107355"/>
            </a:xfrm>
            <a:custGeom>
              <a:avLst/>
              <a:gdLst/>
              <a:ahLst/>
              <a:cxnLst/>
              <a:rect r="r" b="b" t="t" l="l"/>
              <a:pathLst>
                <a:path h="1107355" w="1287005">
                  <a:moveTo>
                    <a:pt x="13950" y="0"/>
                  </a:moveTo>
                  <a:lnTo>
                    <a:pt x="1273056" y="0"/>
                  </a:lnTo>
                  <a:cubicBezTo>
                    <a:pt x="1276755" y="0"/>
                    <a:pt x="1280303" y="1470"/>
                    <a:pt x="1282919" y="4086"/>
                  </a:cubicBezTo>
                  <a:cubicBezTo>
                    <a:pt x="1285536" y="6702"/>
                    <a:pt x="1287005" y="10250"/>
                    <a:pt x="1287005" y="13950"/>
                  </a:cubicBezTo>
                  <a:lnTo>
                    <a:pt x="1287005" y="1093405"/>
                  </a:lnTo>
                  <a:cubicBezTo>
                    <a:pt x="1287005" y="1101109"/>
                    <a:pt x="1280760" y="1107355"/>
                    <a:pt x="1273056" y="1107355"/>
                  </a:cubicBezTo>
                  <a:lnTo>
                    <a:pt x="13950" y="1107355"/>
                  </a:lnTo>
                  <a:cubicBezTo>
                    <a:pt x="10250" y="1107355"/>
                    <a:pt x="6702" y="1105885"/>
                    <a:pt x="4086" y="1103269"/>
                  </a:cubicBezTo>
                  <a:cubicBezTo>
                    <a:pt x="1470" y="1100653"/>
                    <a:pt x="0" y="1097105"/>
                    <a:pt x="0" y="1093405"/>
                  </a:cubicBezTo>
                  <a:lnTo>
                    <a:pt x="0" y="13950"/>
                  </a:lnTo>
                  <a:cubicBezTo>
                    <a:pt x="0" y="6245"/>
                    <a:pt x="6245" y="0"/>
                    <a:pt x="13950" y="0"/>
                  </a:cubicBezTo>
                  <a:close/>
                </a:path>
              </a:pathLst>
            </a:custGeom>
            <a:blipFill>
              <a:blip r:embed="rId2"/>
              <a:stretch>
                <a:fillRect l="-243" t="0" r="-243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5400000">
            <a:off x="-5014748" y="5014748"/>
            <a:ext cx="10287000" cy="257505"/>
            <a:chOff x="0" y="0"/>
            <a:chExt cx="2709333" cy="678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09333" cy="67820"/>
            </a:xfrm>
            <a:custGeom>
              <a:avLst/>
              <a:gdLst/>
              <a:ahLst/>
              <a:cxnLst/>
              <a:rect r="r" b="b" t="t" l="l"/>
              <a:pathLst>
                <a:path h="67820" w="2709333">
                  <a:moveTo>
                    <a:pt x="0" y="0"/>
                  </a:moveTo>
                  <a:lnTo>
                    <a:pt x="2709333" y="0"/>
                  </a:lnTo>
                  <a:lnTo>
                    <a:pt x="2709333" y="67820"/>
                  </a:lnTo>
                  <a:lnTo>
                    <a:pt x="0" y="67820"/>
                  </a:lnTo>
                  <a:close/>
                </a:path>
              </a:pathLst>
            </a:custGeom>
            <a:solidFill>
              <a:srgbClr val="1F3A5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709333" cy="1059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66750" y="838200"/>
            <a:ext cx="6886575" cy="434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</a:pPr>
            <a:r>
              <a:rPr lang="en-US" b="true" sz="8499">
                <a:solidFill>
                  <a:srgbClr val="1F3A5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Transforming Feedback into Actionable Insights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96400" y="8104822"/>
            <a:ext cx="7913050" cy="886777"/>
            <a:chOff x="0" y="0"/>
            <a:chExt cx="10550733" cy="118237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57150"/>
              <a:ext cx="10550733" cy="655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47"/>
                </a:lnSpc>
              </a:pPr>
              <a:r>
                <a:rPr lang="en-US" b="true" sz="2962" strike="noStrike" u="none">
                  <a:solidFill>
                    <a:srgbClr val="536F8F"/>
                  </a:solidFill>
                  <a:latin typeface="Proxima Nova Condensed Bold"/>
                  <a:ea typeface="Proxima Nova Condensed Bold"/>
                  <a:cs typeface="Proxima Nova Condensed Bold"/>
                  <a:sym typeface="Proxima Nova Condensed Bold"/>
                </a:rPr>
                <a:t>CREATING VALUE THROUGH NOVEL ORCHESTRATION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698077"/>
              <a:ext cx="10550733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 strike="noStrike" u="none">
                  <a:solidFill>
                    <a:srgbClr val="536F8F"/>
                  </a:solidFill>
                  <a:latin typeface="Touvlo"/>
                  <a:ea typeface="Touvlo"/>
                  <a:cs typeface="Touvlo"/>
                  <a:sym typeface="Touvlo"/>
                </a:rPr>
                <a:t>This system turns survey data into </a:t>
              </a:r>
              <a:r>
                <a:rPr lang="en-US" b="true" sz="2200" strike="noStrike" u="none">
                  <a:solidFill>
                    <a:srgbClr val="536F8F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actionable insights</a:t>
              </a:r>
              <a:r>
                <a:rPr lang="en-US" sz="2200" strike="noStrike" u="none">
                  <a:solidFill>
                    <a:srgbClr val="536F8F"/>
                  </a:solidFill>
                  <a:latin typeface="Touvlo"/>
                  <a:ea typeface="Touvlo"/>
                  <a:cs typeface="Touvlo"/>
                  <a:sym typeface="Touvlo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986587" cy="10287000"/>
            <a:chOff x="0" y="0"/>
            <a:chExt cx="760804" cy="11202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0804" cy="1120203"/>
            </a:xfrm>
            <a:custGeom>
              <a:avLst/>
              <a:gdLst/>
              <a:ahLst/>
              <a:cxnLst/>
              <a:rect r="r" b="b" t="t" l="l"/>
              <a:pathLst>
                <a:path h="1120203" w="760804">
                  <a:moveTo>
                    <a:pt x="0" y="0"/>
                  </a:moveTo>
                  <a:lnTo>
                    <a:pt x="760804" y="0"/>
                  </a:lnTo>
                  <a:lnTo>
                    <a:pt x="760804" y="1120203"/>
                  </a:lnTo>
                  <a:lnTo>
                    <a:pt x="0" y="1120203"/>
                  </a:lnTo>
                  <a:close/>
                </a:path>
              </a:pathLst>
            </a:custGeom>
            <a:blipFill>
              <a:blip r:embed="rId2"/>
              <a:stretch>
                <a:fillRect l="0" t="-401" r="0" b="-40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611225" y="7830185"/>
            <a:ext cx="4010025" cy="911860"/>
            <a:chOff x="0" y="0"/>
            <a:chExt cx="5346700" cy="1215813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38100"/>
              <a:ext cx="5346700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536F8F"/>
                  </a:solidFill>
                  <a:latin typeface="Touvlo"/>
                  <a:ea typeface="Touvlo"/>
                  <a:cs typeface="Touvlo"/>
                  <a:sym typeface="Touvlo"/>
                </a:rPr>
                <a:t>PHONE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93090"/>
              <a:ext cx="5346700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 strike="noStrike" u="none">
                  <a:solidFill>
                    <a:srgbClr val="536F8F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123-456-7890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858125" y="838254"/>
            <a:ext cx="6886575" cy="11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99"/>
              </a:lnSpc>
              <a:spcBef>
                <a:spcPct val="0"/>
              </a:spcBef>
            </a:pPr>
            <a:r>
              <a:rPr lang="en-US" b="true" sz="8499">
                <a:solidFill>
                  <a:srgbClr val="1F3A5F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Next Steps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858125" y="6038850"/>
            <a:ext cx="5449899" cy="912495"/>
            <a:chOff x="0" y="0"/>
            <a:chExt cx="7266532" cy="121666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7266532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</a:pPr>
              <a:r>
                <a:rPr lang="en-US" sz="2199" u="none">
                  <a:solidFill>
                    <a:srgbClr val="536F8F"/>
                  </a:solidFill>
                  <a:latin typeface="Touvlo"/>
                  <a:ea typeface="Touvlo"/>
                  <a:cs typeface="Touvlo"/>
                  <a:sym typeface="Touvlo"/>
                </a:rPr>
                <a:t>EMAIL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93937"/>
              <a:ext cx="7266532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b="true" sz="2799" u="none">
                  <a:solidFill>
                    <a:srgbClr val="536F8F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hello@reallygreatsite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858125" y="7830185"/>
            <a:ext cx="4010025" cy="911225"/>
            <a:chOff x="0" y="0"/>
            <a:chExt cx="5346700" cy="121496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5346700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>
                  <a:solidFill>
                    <a:srgbClr val="536F8F"/>
                  </a:solidFill>
                  <a:latin typeface="Touvlo"/>
                  <a:ea typeface="Touvlo"/>
                  <a:cs typeface="Touvlo"/>
                  <a:sym typeface="Touvlo"/>
                </a:rPr>
                <a:t>SOCIAL MEDIA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592243"/>
              <a:ext cx="5346700" cy="6227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536F8F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@reallygreatsite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Usage-Aware LLM Survey</dc:description>
  <dc:identifier>DAG5UJkd-RQ</dc:identifier>
  <dcterms:modified xsi:type="dcterms:W3CDTF">2011-08-01T06:04:30Z</dcterms:modified>
  <cp:revision>1</cp:revision>
  <dc:title>Presentation - Usage-Aware LLM Survey</dc:title>
</cp:coreProperties>
</file>